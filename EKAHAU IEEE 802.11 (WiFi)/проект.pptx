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2" r:id="rId5"/>
    <p:sldId id="264" r:id="rId6"/>
    <p:sldId id="266" r:id="rId7"/>
    <p:sldId id="267" r:id="rId8"/>
    <p:sldId id="268" r:id="rId9"/>
    <p:sldId id="269" r:id="rId10"/>
    <p:sldId id="270" r:id="rId11"/>
    <p:sldId id="271" r:id="rId12"/>
    <p:sldId id="273" r:id="rId13"/>
    <p:sldId id="274" r:id="rId14"/>
    <p:sldId id="275" r:id="rId15"/>
    <p:sldId id="26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443"/>
    <a:srgbClr val="0003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34F5-BDE2-4375-B83B-F49841317258}" type="datetimeFigureOut">
              <a:rPr lang="ru-RU" smtClean="0"/>
              <a:t>26.06.2025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6338"/>
            <a:ext cx="12235534" cy="6904338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1037230" y="2437811"/>
            <a:ext cx="10118450" cy="126042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ru-RU" altLang="ru-RU" sz="2000" b="1" cap="all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и моделирование беспроводных сетей передачи данных с использованием программно-аппаратного комплекса EKAHAU IEEE 802.11 (WiFi)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037230" y="4991720"/>
            <a:ext cx="7647863" cy="1305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Эльбьяри Мохамед Айман Хассан Эльсайед</a:t>
            </a:r>
          </a:p>
          <a:p>
            <a:pPr>
              <a:lnSpc>
                <a:spcPct val="150000"/>
              </a:lnSpc>
            </a:pPr>
            <a:r>
              <a:rPr lang="ru-R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Элия Киролос Хайри Фавзи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27061" r="44625" b="33918"/>
          <a:stretch/>
        </p:blipFill>
        <p:spPr>
          <a:xfrm>
            <a:off x="1037230" y="467642"/>
            <a:ext cx="2016631" cy="107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1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/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84F94E0-60EC-54A2-9E29-653DAD360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620" y="1246852"/>
            <a:ext cx="28746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مربع نص 10">
            <a:extLst>
              <a:ext uri="{FF2B5EF4-FFF2-40B4-BE49-F238E27FC236}">
                <a16:creationId xmlns:a16="http://schemas.microsoft.com/office/drawing/2014/main" id="{899AE784-3316-9D1C-02A5-12B93452EE91}"/>
              </a:ext>
            </a:extLst>
          </p:cNvPr>
          <p:cNvSpPr txBox="1"/>
          <p:nvPr/>
        </p:nvSpPr>
        <p:spPr>
          <a:xfrm>
            <a:off x="925620" y="2163910"/>
            <a:ext cx="10982960" cy="2530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Провести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обследование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текущей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Wi-Fi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сети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оценить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покрытие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качество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сигнала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ёмкость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также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предложить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улучшения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помощью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Ekahau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AI Pro.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4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этаж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учебного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корпуса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ИРИТ-РТФ.</a:t>
            </a:r>
          </a:p>
        </p:txBody>
      </p:sp>
    </p:spTree>
    <p:extLst>
      <p:ext uri="{BB962C8B-B14F-4D97-AF65-F5344CB8AC3E}">
        <p14:creationId xmlns:p14="http://schemas.microsoft.com/office/powerpoint/2010/main" val="146056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62F64-4DC4-8624-2C69-995AC78A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>
            <a:extLst>
              <a:ext uri="{FF2B5EF4-FFF2-40B4-BE49-F238E27FC236}">
                <a16:creationId xmlns:a16="http://schemas.microsoft.com/office/drawing/2014/main" id="{D6FCF64D-21FD-B481-00AD-A80B4DD6F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0449DB-32E3-C44C-EC4B-EEE53DAC7897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B620DB43-A5F1-AA66-163C-DE4221D1B3AB}"/>
              </a:ext>
            </a:extLst>
          </p:cNvPr>
          <p:cNvSpPr txBox="1"/>
          <p:nvPr/>
        </p:nvSpPr>
        <p:spPr>
          <a:xfrm>
            <a:off x="925619" y="1272560"/>
            <a:ext cx="5851101" cy="3521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Описание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объекта</a:t>
            </a:r>
            <a:endParaRPr lang="en-US" sz="2800" b="1" dirty="0"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4-этажное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кирпичное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здание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Площадь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2697 м²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Потолки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ar-EG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м,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декоративные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панели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Стены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кирпич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гипсокартон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стекло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Устройства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ноутбуки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смартфоны</a:t>
            </a:r>
            <a:endParaRPr lang="en-US" sz="2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7" name="صورة 6" descr="صورة تحتوي على لقطة شاشة, التصميم">
            <a:extLst>
              <a:ext uri="{FF2B5EF4-FFF2-40B4-BE49-F238E27FC236}">
                <a16:creationId xmlns:a16="http://schemas.microsoft.com/office/drawing/2014/main" id="{A76F5512-2B6B-F96C-CDF8-106F11653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076" t="-2816" r="22286" b="15760"/>
          <a:stretch>
            <a:fillRect/>
          </a:stretch>
        </p:blipFill>
        <p:spPr>
          <a:xfrm>
            <a:off x="7818387" y="1107951"/>
            <a:ext cx="3972560" cy="508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56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63AC3-A1FB-5C75-0080-126196989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>
            <a:extLst>
              <a:ext uri="{FF2B5EF4-FFF2-40B4-BE49-F238E27FC236}">
                <a16:creationId xmlns:a16="http://schemas.microsoft.com/office/drawing/2014/main" id="{F74461FC-C802-8488-4D43-6B6462E67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62CBB76-6AED-73A8-8EA3-F24D6C07A9AA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E2F5F337-EA84-D8F4-3D81-58F7CF69A213}"/>
              </a:ext>
            </a:extLst>
          </p:cNvPr>
          <p:cNvSpPr txBox="1"/>
          <p:nvPr/>
        </p:nvSpPr>
        <p:spPr>
          <a:xfrm>
            <a:off x="925620" y="1260842"/>
            <a:ext cx="11187847" cy="4583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План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работы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(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Этапы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проекта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)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Построение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плана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этажа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2.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Задание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зон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покрытия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3.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Размещение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ТД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4.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Анализ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сигнала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5.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Проверка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каналов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6.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Планирование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ёмкости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7.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Измерения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8.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Выводы</a:t>
            </a:r>
            <a:endParaRPr lang="en-US" sz="2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574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10619-ABF0-9D6D-7276-ABDEEFBC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>
            <a:extLst>
              <a:ext uri="{FF2B5EF4-FFF2-40B4-BE49-F238E27FC236}">
                <a16:creationId xmlns:a16="http://schemas.microsoft.com/office/drawing/2014/main" id="{77672992-5797-F5E0-1788-ACAE60937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748D54-BF76-CB5B-C1B9-B54A8DE9C481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4A54E9A4-3BC4-C9C0-6829-1CEE5E5C08EA}"/>
              </a:ext>
            </a:extLst>
          </p:cNvPr>
          <p:cNvSpPr txBox="1"/>
          <p:nvPr/>
        </p:nvSpPr>
        <p:spPr>
          <a:xfrm>
            <a:off x="925620" y="1333520"/>
            <a:ext cx="8218380" cy="210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Первичная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Wi-Fi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сеть</a:t>
            </a:r>
            <a:endParaRPr lang="en-US" sz="32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28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16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точек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доступа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Cisco 3702i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Каналы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2.4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ГГц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1/6/11; 5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ГГц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36, 40, 44, 48...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2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2A9BCF21-16AC-6FA3-12A1-EBC127557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23" y="3336552"/>
            <a:ext cx="3444317" cy="31190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B4917C9F-6262-4A36-7EB9-33710C16C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327" y="3336551"/>
            <a:ext cx="2781986" cy="31190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4409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4963C-9E25-1B9A-4B84-08EAABB88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>
            <a:extLst>
              <a:ext uri="{FF2B5EF4-FFF2-40B4-BE49-F238E27FC236}">
                <a16:creationId xmlns:a16="http://schemas.microsoft.com/office/drawing/2014/main" id="{D440EE46-2F80-9615-F763-4A25C1871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DEBFA27-4E17-F002-5855-6C16CAC6BAA2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48B28533-F4EB-82AB-148F-7F9B9FF41739}"/>
              </a:ext>
            </a:extLst>
          </p:cNvPr>
          <p:cNvSpPr txBox="1"/>
          <p:nvPr/>
        </p:nvSpPr>
        <p:spPr>
          <a:xfrm>
            <a:off x="925620" y="1285280"/>
            <a:ext cx="8218380" cy="2312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Анализ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уровня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сигнала</a:t>
            </a:r>
            <a:endParaRPr lang="en-US" sz="3200" b="1" dirty="0"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Покрытие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большинстве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зон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хорошее</a:t>
            </a:r>
            <a:b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Пограничные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зоны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требуют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оптимизации</a:t>
            </a:r>
            <a:b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32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603EA526-8F1B-6D36-BD78-DD5006117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565" y="3132119"/>
            <a:ext cx="3189909" cy="331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DF73-0D16-21D8-CB5B-0935B0E9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>
            <a:extLst>
              <a:ext uri="{FF2B5EF4-FFF2-40B4-BE49-F238E27FC236}">
                <a16:creationId xmlns:a16="http://schemas.microsoft.com/office/drawing/2014/main" id="{EA6E4FE6-31FE-EAE6-F260-B0E376261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CE474CD-EE9F-BB8D-BD67-91DBC2B765FA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F98E18F6-72D4-B00D-3475-D72F0DF3F74A}"/>
              </a:ext>
            </a:extLst>
          </p:cNvPr>
          <p:cNvSpPr txBox="1"/>
          <p:nvPr/>
        </p:nvSpPr>
        <p:spPr>
          <a:xfrm>
            <a:off x="925620" y="1407200"/>
            <a:ext cx="8218380" cy="3573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Вторичный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сигнал</a:t>
            </a:r>
            <a:endParaRPr lang="en-US" sz="3200" b="1" dirty="0"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Необходим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роуминга</a:t>
            </a:r>
            <a:b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В 5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ГГц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покрытие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слабое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решено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снижением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мощности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добавлением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ТД</a:t>
            </a:r>
            <a:b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endParaRPr lang="en-US" sz="32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788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5CF0-D121-FA1E-3524-602C7EFB3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>
            <a:extLst>
              <a:ext uri="{FF2B5EF4-FFF2-40B4-BE49-F238E27FC236}">
                <a16:creationId xmlns:a16="http://schemas.microsoft.com/office/drawing/2014/main" id="{EB5AAAB6-9267-F345-0F17-3ABC4827F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F497C6-F24A-4FB3-06EF-0FCE3624C205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87514E92-E931-746E-FECA-6E1644C24FD0}"/>
              </a:ext>
            </a:extLst>
          </p:cNvPr>
          <p:cNvSpPr txBox="1"/>
          <p:nvPr/>
        </p:nvSpPr>
        <p:spPr>
          <a:xfrm>
            <a:off x="925620" y="1398320"/>
            <a:ext cx="8218380" cy="1745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Интерференция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каналов</a:t>
            </a:r>
            <a:endParaRPr lang="en-US" sz="3200" b="1" dirty="0"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Минимизировано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перекрытие</a:t>
            </a:r>
            <a:b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Использованы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несмешивающиеся</a:t>
            </a:r>
            <a:r>
              <a:rPr lang="en-US" sz="32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каналы</a:t>
            </a:r>
            <a:endParaRPr lang="en-US" sz="32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D7E35DD7-D988-5B9F-5695-5A38EE91B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565" y="3249133"/>
            <a:ext cx="3296034" cy="3289308"/>
          </a:xfrm>
          <a:prstGeom prst="rect">
            <a:avLst/>
          </a:prstGeom>
        </p:spPr>
      </p:pic>
      <p:pic>
        <p:nvPicPr>
          <p:cNvPr id="10" name="صورة 9">
            <a:extLst>
              <a:ext uri="{FF2B5EF4-FFF2-40B4-BE49-F238E27FC236}">
                <a16:creationId xmlns:a16="http://schemas.microsoft.com/office/drawing/2014/main" id="{5269008B-2A32-B911-D411-17A33B344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792" y="3365683"/>
            <a:ext cx="3296035" cy="317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83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BBFEB-244F-7F26-F48F-1ED7465A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>
            <a:extLst>
              <a:ext uri="{FF2B5EF4-FFF2-40B4-BE49-F238E27FC236}">
                <a16:creationId xmlns:a16="http://schemas.microsoft.com/office/drawing/2014/main" id="{F4936B46-5342-EED3-EDFD-DE0C539DC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3312938-D596-5AE1-BF65-C3DC0EA32A45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7AE920F6-4058-1951-411B-C4437A1DE0B8}"/>
              </a:ext>
            </a:extLst>
          </p:cNvPr>
          <p:cNvSpPr txBox="1"/>
          <p:nvPr/>
        </p:nvSpPr>
        <p:spPr>
          <a:xfrm>
            <a:off x="925620" y="1262400"/>
            <a:ext cx="8218380" cy="3153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Ёмкость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сети</a:t>
            </a:r>
            <a:endParaRPr lang="en-US" sz="2800" b="1" dirty="0"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endParaRPr lang="en-US" sz="2800" b="1" dirty="0">
              <a:solidFill>
                <a:srgbClr val="4F81BD"/>
              </a:solidFill>
              <a:effectLst/>
              <a:latin typeface="Times New Roman" panose="02020603050405020304" pitchFamily="18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100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смартфонов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(2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Мбит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/с), 50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ноутбуков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(4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Мбит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/с)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Всего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400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Мбит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/с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После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оптимизации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сеть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выдерживает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нагрузку</a:t>
            </a:r>
            <a:endParaRPr lang="en-US" sz="2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0AD98E91-8A0E-6EB3-7476-49B6D5A7A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836" y="1447800"/>
            <a:ext cx="3129111" cy="30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804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D5AC4-E442-6EB1-2EDB-235290ACD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>
            <a:extLst>
              <a:ext uri="{FF2B5EF4-FFF2-40B4-BE49-F238E27FC236}">
                <a16:creationId xmlns:a16="http://schemas.microsoft.com/office/drawing/2014/main" id="{407026B7-7DDA-8D41-DEEA-CDBC15049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00733E3-72E6-0987-AB2D-9189F58BB1B7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A97B6607-10E0-5F3C-C866-8367917F3C4E}"/>
              </a:ext>
            </a:extLst>
          </p:cNvPr>
          <p:cNvSpPr txBox="1"/>
          <p:nvPr/>
        </p:nvSpPr>
        <p:spPr>
          <a:xfrm>
            <a:off x="925620" y="1403360"/>
            <a:ext cx="8218380" cy="2034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Измерения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 (Site Survey)</a:t>
            </a:r>
          </a:p>
          <a:p>
            <a:pPr marL="0" marR="0">
              <a:lnSpc>
                <a:spcPct val="115000"/>
              </a:lnSpc>
              <a:spcAft>
                <a:spcPts val="10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Пройдено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~600 м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Ekahau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Sidekick + iPad</a:t>
            </a:r>
            <a:b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•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Точки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фиксации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каждые</a:t>
            </a:r>
            <a:r>
              <a:rPr lang="en-US" sz="2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3–5 м</a:t>
            </a:r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16521C0C-8AB0-C6BC-667A-FB197EEC4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599" y="1027441"/>
            <a:ext cx="5390147" cy="526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73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69E81-20E2-5939-EA72-01F16C725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>
            <a:extLst>
              <a:ext uri="{FF2B5EF4-FFF2-40B4-BE49-F238E27FC236}">
                <a16:creationId xmlns:a16="http://schemas.microsoft.com/office/drawing/2014/main" id="{99DB15F3-518E-EC35-D937-08A5CC79F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F619676-3624-C20C-F017-5AC39C0C577A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A3306CA4-ACBD-D1DC-88F8-3DF1969D6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25" y="1256635"/>
            <a:ext cx="2548308" cy="25087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صورة 13">
            <a:extLst>
              <a:ext uri="{FF2B5EF4-FFF2-40B4-BE49-F238E27FC236}">
                <a16:creationId xmlns:a16="http://schemas.microsoft.com/office/drawing/2014/main" id="{C845F36D-36B3-7381-F055-58E3C98A9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3" y="4013258"/>
            <a:ext cx="2443511" cy="24335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صورة 15">
            <a:extLst>
              <a:ext uri="{FF2B5EF4-FFF2-40B4-BE49-F238E27FC236}">
                <a16:creationId xmlns:a16="http://schemas.microsoft.com/office/drawing/2014/main" id="{9575BD30-A0DB-9CC8-87B5-FBD5B5CFD0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1774" y="4013258"/>
            <a:ext cx="2526304" cy="2500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صورة 17">
            <a:extLst>
              <a:ext uri="{FF2B5EF4-FFF2-40B4-BE49-F238E27FC236}">
                <a16:creationId xmlns:a16="http://schemas.microsoft.com/office/drawing/2014/main" id="{F40AF14F-7207-B00B-5D72-7E774CA8C1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822" y="1256635"/>
            <a:ext cx="2436114" cy="2480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صورة 19">
            <a:extLst>
              <a:ext uri="{FF2B5EF4-FFF2-40B4-BE49-F238E27FC236}">
                <a16:creationId xmlns:a16="http://schemas.microsoft.com/office/drawing/2014/main" id="{B077D846-30A9-8095-09BB-C2483C66F2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840" y="1256635"/>
            <a:ext cx="2538717" cy="25335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صورة 21">
            <a:extLst>
              <a:ext uri="{FF2B5EF4-FFF2-40B4-BE49-F238E27FC236}">
                <a16:creationId xmlns:a16="http://schemas.microsoft.com/office/drawing/2014/main" id="{A035AEC5-6843-4CBB-8D49-63368B43A6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6717" y="4011864"/>
            <a:ext cx="2444839" cy="2568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6318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20829-2D16-9086-7006-33854A4E0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Объект 1">
            <a:extLst>
              <a:ext uri="{FF2B5EF4-FFF2-40B4-BE49-F238E27FC236}">
                <a16:creationId xmlns:a16="http://schemas.microsoft.com/office/drawing/2014/main" id="{0635ACE8-8FCF-0266-DA0B-3121D84C5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40"/>
          <a:stretch/>
        </p:blipFill>
        <p:spPr>
          <a:xfrm>
            <a:off x="603100" y="319559"/>
            <a:ext cx="1342931" cy="434420"/>
          </a:xfr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482EF88-4FB0-9025-6DDA-2A98F50BDCFE}"/>
              </a:ext>
            </a:extLst>
          </p:cNvPr>
          <p:cNvSpPr/>
          <p:nvPr/>
        </p:nvSpPr>
        <p:spPr>
          <a:xfrm flipV="1">
            <a:off x="925620" y="920165"/>
            <a:ext cx="10865327" cy="21600"/>
          </a:xfrm>
          <a:prstGeom prst="rect">
            <a:avLst/>
          </a:prstGeom>
          <a:solidFill>
            <a:srgbClr val="E204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20443"/>
              </a:solidFill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6A06DAD1-C99C-E058-54CE-A75C3C117BFC}"/>
              </a:ext>
            </a:extLst>
          </p:cNvPr>
          <p:cNvSpPr txBox="1"/>
          <p:nvPr/>
        </p:nvSpPr>
        <p:spPr>
          <a:xfrm>
            <a:off x="925620" y="2705854"/>
            <a:ext cx="107177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b="1" dirty="0">
                <a:latin typeface="Arial"/>
                <a:ea typeface="Calibri"/>
                <a:cs typeface="Calibri"/>
              </a:rPr>
              <a:t>Спасибо за внимание!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61501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DE34FD210DC343A0183A985C16C613" ma:contentTypeVersion="8" ma:contentTypeDescription="Create a new document." ma:contentTypeScope="" ma:versionID="feb2c65606e45fd59d6b6de6125dab48">
  <xsd:schema xmlns:xsd="http://www.w3.org/2001/XMLSchema" xmlns:xs="http://www.w3.org/2001/XMLSchema" xmlns:p="http://schemas.microsoft.com/office/2006/metadata/properties" xmlns:ns2="3512b388-310f-4fc2-9e89-a6fc81dc9a1b" targetNamespace="http://schemas.microsoft.com/office/2006/metadata/properties" ma:root="true" ma:fieldsID="b33103521a72a2963549ab649ab929b0" ns2:_="">
    <xsd:import namespace="3512b388-310f-4fc2-9e89-a6fc81dc9a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12b388-310f-4fc2-9e89-a6fc81dc9a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947759-1EB4-4F35-9E52-713BFC32D9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512b388-310f-4fc2-9e89-a6fc81dc9a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C842DE-3BD3-484B-ACFE-2B51E80398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9FD8F9-D112-4F1D-BEB3-25B8F426818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728</TotalTime>
  <Words>284</Words>
  <Application>Microsoft Office PowerPoint</Application>
  <PresentationFormat>شاشة عريضة</PresentationFormat>
  <Paragraphs>24</Paragraphs>
  <Slides>12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Элия Киролос Хайри Фавзи</cp:lastModifiedBy>
  <cp:revision>58</cp:revision>
  <dcterms:created xsi:type="dcterms:W3CDTF">2019-05-31T06:38:44Z</dcterms:created>
  <dcterms:modified xsi:type="dcterms:W3CDTF">2025-06-26T13:40:08Z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0x010100D3DE34FD210DC343A0183A985C16C613</vt:lpwstr>
  </property>
</Properties>
</file>