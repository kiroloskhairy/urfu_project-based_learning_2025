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89" r:id="rId4"/>
    <p:sldId id="287" r:id="rId5"/>
    <p:sldId id="275" r:id="rId6"/>
    <p:sldId id="262" r:id="rId7"/>
    <p:sldId id="276" r:id="rId8"/>
    <p:sldId id="278" r:id="rId9"/>
    <p:sldId id="277" r:id="rId10"/>
    <p:sldId id="279" r:id="rId11"/>
    <p:sldId id="280" r:id="rId12"/>
    <p:sldId id="281" r:id="rId13"/>
    <p:sldId id="282" r:id="rId14"/>
    <p:sldId id="284" r:id="rId15"/>
    <p:sldId id="283" r:id="rId16"/>
    <p:sldId id="285" r:id="rId17"/>
    <p:sldId id="286" r:id="rId18"/>
    <p:sldId id="288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92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F721B-2726-9F25-D725-4ED2BE324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40FCBC-7635-C837-E74A-480687D2F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662006-C0B9-EBBE-7FE0-F8CE92C6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74A406-6185-B108-1E9F-588C5891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6122F6-C01A-1C7F-2216-FD82FDD7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479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9BC1A-C2CF-4C4F-F6FE-33F17C10E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4866-D4DD-826B-518F-FD89A342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55D5A1-D36F-0A76-B9FC-27EED362F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0CB8C6-D843-0BDD-F1BE-D9AA8C9A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E5DC0-7627-2364-4B15-BF54699A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620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26894-A495-3AE2-7939-307A09EE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359E2C-5BAB-7B6F-B7B4-C20B0C76C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AE6DEA-81A0-4147-5869-3085E5E2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849D25-04DC-337C-6E7F-56D77163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82DEE-7282-20B2-ECCB-BDBB03E3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683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E8E76-4786-7E6F-9B0F-4911D2DB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77E114-23A7-E998-CBAB-144523A75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CBA8B7-0AA3-BEFC-67ED-7EF648AB5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3875F6-CE0F-E7B3-B40D-5CC65843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405EEE-9F17-FEDD-5206-BF60D479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7E8EA7-53BC-A723-005D-BE384405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091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8A5B9-9333-1219-DAC4-A982C185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B1D0C4-9824-5AD5-5E03-B42E1BBC7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82D63B-E6EB-4890-F7AF-1FFA5B0E9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54AD0-36F2-81CC-BA9E-8E8B76EFF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6F523A-3393-C5AE-2773-264B7F0BB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BEF3652-2765-7DDB-1EEB-F1972018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100D0E-393B-A179-9D76-4EAB640D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E70E40-2AF7-C9FB-CE90-CC5B059A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888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B9FEA-B9E3-54E4-6B59-9EE8E98C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492DE4-9AF3-36C6-ED0C-13B6A992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8B8372-C9AE-088C-7FF5-8BAAF627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9D453F-556F-32F1-7C95-6617F38D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511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DB7BC3-8D20-B057-9C9B-FCEBCAEC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DA5CF0-5820-65D2-BCCD-9E06983B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4E7BCF-715F-E090-F0C9-972E5967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215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AF568-45BF-06E2-1D5C-21AC15D2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365AFA-06D8-41D2-1849-D742741B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623656-558B-A849-3073-4CE0ABA6E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CB4135-D215-3037-2097-E1D76F0C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C86547-6823-2254-3661-E9701C4E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98467A-DFEC-BFCD-A4E5-63295B17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748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047FF-77C6-67A1-348A-CB451BDF1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6CAFBB-62F9-E73C-EE7A-F12756CEC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2163C9-3B64-9DA4-C38E-3C5BD80F8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E240A2-F233-1B12-B5AF-2EF46B15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944E5C-2856-F145-0A95-F838D7D2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C32156-4C9D-148B-74D0-BF2EE409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76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DA65A-3757-617C-2353-3AFA30EC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2FD550-6855-3A16-1D89-91258BA54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4B0CEC-130E-6CBE-5769-9ED33C7D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55493-233B-3C56-9D35-9F5DBBA9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BDE6A3-FC3A-0BF8-EECF-7C26CCBC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03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1C8410-8610-4C08-86CE-1B160B23B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382209-E740-FC63-8359-A5C77F65A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E731D5-F391-61C2-D921-ECA1A15E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121FA-1D86-A247-75CD-1364539D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D9C9F5-1435-FEAC-6421-2A05D813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123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DD843A5-3B21-818D-E4DC-E99FC9D4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7DA149-2D6C-CFAC-E6D1-A3A715A77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D2CA4C-1DB5-19DB-2003-4D7296648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DC760-0824-4218-8A7F-54D871B32D68}" type="datetimeFigureOut">
              <a:rPr lang="es-MX" smtClean="0"/>
              <a:t>21/01/2025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FA9BBF-0B78-D4C3-243F-FF5310195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431E2-0344-155C-AEAB-F01899A91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1E9D8-397D-4795-9DA6-979370B86E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538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0" y="0"/>
            <a:ext cx="12147899" cy="6858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777904" y="610624"/>
            <a:ext cx="2229493" cy="1301015"/>
          </a:xfrm>
          <a:prstGeom prst="rect">
            <a:avLst/>
          </a:prstGeom>
        </p:spPr>
      </p:pic>
      <p:graphicFrame>
        <p:nvGraphicFramePr>
          <p:cNvPr id="18" name="Объект 17"/>
          <p:cNvGraphicFramePr>
            <a:graphicFrameLocks noChangeAspect="1"/>
          </p:cNvGraphicFramePr>
          <p:nvPr/>
        </p:nvGraphicFramePr>
        <p:xfrm>
          <a:off x="8309657" y="656695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3084412" imgH="1354813" progId="CorelDraw.Graphic.22">
                  <p:embed/>
                </p:oleObj>
              </mc:Choice>
              <mc:Fallback>
                <p:oleObj name="CorelDRAW" r:id="rId4" imgW="3084412" imgH="1354813" progId="CorelDraw.Graphic.22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09657" y="656695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1374020" y="2184883"/>
            <a:ext cx="8080913" cy="255497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3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интерактивного обучающего модуля для старшеклассников и студентов младших курсов "Этичный Хакинг"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433015" y="4673117"/>
            <a:ext cx="6883295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Докладчик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Серон Кабрера Алехандро Патрисио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Эльбьяри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Мохамед Айман Хассан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Эльсайед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Элия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Киролос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Хайри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Фавзи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Салем Мохамед Ахмед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Элсайед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Абдельхамид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Ибрахим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25BCB2-7298-3D69-6B1A-45048F150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Задача</a:t>
            </a:r>
            <a:endParaRPr lang="es-MX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13C58-09AE-7C92-9E8C-8A3F983EB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828"/>
            <a:ext cx="10515600" cy="4981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Изучать и познакомиться с принципами этичного Хакинга, пройдя курс по ссылке </a:t>
            </a:r>
            <a:r>
              <a:rPr lang="es-MX" dirty="0"/>
              <a:t>https://netacad.sadlab.su/legacy/CyberOps/1.1/en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111340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A44D3-44E1-C972-735D-49A53FD6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0EE4A3FC-C9A4-5F80-FD57-66EC8CFBF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EB3EE2-B0D0-FD42-CDF6-0C61F816225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AE5E81-24AF-0202-246A-15299424E8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B2547F6-668C-D846-D3BB-769F1145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Содержание</a:t>
            </a:r>
            <a:r>
              <a:rPr lang="es-MX" sz="32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Курса:</a:t>
            </a:r>
            <a:endParaRPr lang="es-MX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F7FE38-2FCF-9FCF-F7B5-2071B164F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828"/>
            <a:ext cx="10515600" cy="4981135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Кибербезопасность и Операционный Центр Безопасности (SOC)</a:t>
            </a:r>
          </a:p>
          <a:p>
            <a:pPr>
              <a:buFont typeface="+mj-lt"/>
              <a:buAutoNum type="arabicPeriod"/>
            </a:pPr>
            <a:r>
              <a:rPr lang="ru-RU" dirty="0"/>
              <a:t>Операционная система Windows</a:t>
            </a:r>
          </a:p>
          <a:p>
            <a:pPr>
              <a:buFont typeface="+mj-lt"/>
              <a:buAutoNum type="arabicPeriod"/>
            </a:pPr>
            <a:r>
              <a:rPr lang="ru-RU" dirty="0"/>
              <a:t>Операционная система Linux</a:t>
            </a:r>
          </a:p>
          <a:p>
            <a:pPr>
              <a:buFont typeface="+mj-lt"/>
              <a:buAutoNum type="arabicPeriod"/>
            </a:pPr>
            <a:r>
              <a:rPr lang="ru-RU" dirty="0"/>
              <a:t>Сетевые протоколы и сервисы</a:t>
            </a:r>
          </a:p>
          <a:p>
            <a:pPr>
              <a:buFont typeface="+mj-lt"/>
              <a:buAutoNum type="arabicPeriod"/>
            </a:pPr>
            <a:r>
              <a:rPr lang="ru-RU" dirty="0"/>
              <a:t>Сетевая инфраструктура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Принципы сетевой безопасности</a:t>
            </a:r>
          </a:p>
          <a:p>
            <a:pPr>
              <a:buFont typeface="+mj-lt"/>
              <a:buAutoNum type="arabicPeriod"/>
            </a:pPr>
            <a:r>
              <a:rPr lang="ru-RU" dirty="0"/>
              <a:t>Атаки на сети: глубокий анализ</a:t>
            </a:r>
          </a:p>
          <a:p>
            <a:pPr>
              <a:buFont typeface="+mj-lt"/>
              <a:buAutoNum type="arabicPeriod"/>
            </a:pPr>
            <a:r>
              <a:rPr lang="ru-RU" dirty="0"/>
              <a:t>Защита сети</a:t>
            </a:r>
          </a:p>
          <a:p>
            <a:pPr>
              <a:buFont typeface="+mj-lt"/>
              <a:buAutoNum type="arabicPeriod"/>
            </a:pPr>
            <a:r>
              <a:rPr lang="ru-RU" dirty="0"/>
              <a:t>Криптография и инфраструктура открытых ключей (PKI)</a:t>
            </a:r>
          </a:p>
          <a:p>
            <a:pPr>
              <a:buFont typeface="+mj-lt"/>
              <a:buAutoNum type="arabicPeriod"/>
            </a:pPr>
            <a:r>
              <a:rPr lang="ru-RU" dirty="0"/>
              <a:t>Защита концевых устройств</a:t>
            </a:r>
          </a:p>
          <a:p>
            <a:pPr>
              <a:buFont typeface="+mj-lt"/>
              <a:buAutoNum type="arabicPeriod"/>
            </a:pPr>
            <a:r>
              <a:rPr lang="ru-RU" dirty="0"/>
              <a:t>Мониторинг безопасности</a:t>
            </a:r>
          </a:p>
          <a:p>
            <a:pPr>
              <a:buFont typeface="+mj-lt"/>
              <a:buAutoNum type="arabicPeriod"/>
            </a:pPr>
            <a:r>
              <a:rPr lang="ru-RU" dirty="0"/>
              <a:t>Анализ данных о взломах</a:t>
            </a:r>
          </a:p>
          <a:p>
            <a:pPr>
              <a:buFont typeface="+mj-lt"/>
              <a:buAutoNum type="arabicPeriod"/>
            </a:pPr>
            <a:r>
              <a:rPr lang="ru-RU" dirty="0"/>
              <a:t>Реагирование и обработка инцидентов</a:t>
            </a:r>
          </a:p>
        </p:txBody>
      </p:sp>
    </p:spTree>
    <p:extLst>
      <p:ext uri="{BB962C8B-B14F-4D97-AF65-F5344CB8AC3E}">
        <p14:creationId xmlns:p14="http://schemas.microsoft.com/office/powerpoint/2010/main" val="226440258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66E66-2039-6463-5FC9-60ACDDEA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C3E506-9240-8EFF-0AD3-D63DE4246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90EAE3-81A8-22BC-9DBE-9A3D1AB6C8D7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7F911D-4B43-D7CE-42F9-9A3645F3C8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3DC1211-DDD6-C140-C9E9-FC5ED319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такое Этичный хакинг?</a:t>
            </a:r>
            <a:endParaRPr lang="es-MX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EE66B-1978-0BEC-FC2B-B2229EDD5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828"/>
            <a:ext cx="10515600" cy="4981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Это использование техник взлома для обнаружения уязвимостей в системах с разрешения их владельцев, с целью улучшения безопасности.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7C2743-4D06-D3BB-E751-CE5AE1088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512" y="2631297"/>
            <a:ext cx="3658976" cy="363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7487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AE0A-56A7-BF1C-2769-CAFA1AB7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287BCFB2-D23A-824F-9787-4BF528396B6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893" y="778221"/>
            <a:ext cx="5872214" cy="5872214"/>
          </a:xfrm>
          <a:prstGeom prst="rect">
            <a:avLst/>
          </a:prstGeom>
        </p:spPr>
      </p:pic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1F044303-364B-3785-45BD-EBA5F44790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2566457" imgH="894201" progId="CorelDraw.Graphic.22">
                  <p:embed/>
                </p:oleObj>
              </mc:Choice>
              <mc:Fallback>
                <p:oleObj name="CorelDRAW" r:id="rId4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1C13A3C-CB2F-0FDF-595B-7FA586DDD44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921D0B-E13F-D4F1-8BE4-716A344A49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16D661-C98C-D63E-447A-4E403F45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Кибербезопасность и Операционный Центр Безопасности (SOC)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EDFDF9-EBDB-9093-A46A-6D1AA23100AD}"/>
              </a:ext>
            </a:extLst>
          </p:cNvPr>
          <p:cNvSpPr txBox="1">
            <a:spLocks/>
          </p:cNvSpPr>
          <p:nvPr/>
        </p:nvSpPr>
        <p:spPr>
          <a:xfrm>
            <a:off x="7904018" y="1642712"/>
            <a:ext cx="3401291" cy="2326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6947BE-B414-AE7C-E859-8F83BAAE7EA5}"/>
              </a:ext>
            </a:extLst>
          </p:cNvPr>
          <p:cNvSpPr txBox="1"/>
          <p:nvPr/>
        </p:nvSpPr>
        <p:spPr>
          <a:xfrm>
            <a:off x="904493" y="1668704"/>
            <a:ext cx="4063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Типы атакующих: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Любители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Хактивисты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Профессиональные хакеры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Государственные кибератаки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A694FC8-5A22-05E1-FADD-6F830C33981B}"/>
              </a:ext>
            </a:extLst>
          </p:cNvPr>
          <p:cNvCxnSpPr>
            <a:cxnSpLocks/>
          </p:cNvCxnSpPr>
          <p:nvPr/>
        </p:nvCxnSpPr>
        <p:spPr>
          <a:xfrm>
            <a:off x="6096000" y="1758057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4C93353-8023-4AFF-AD14-C8B2DFA6454B}"/>
              </a:ext>
            </a:extLst>
          </p:cNvPr>
          <p:cNvCxnSpPr/>
          <p:nvPr/>
        </p:nvCxnSpPr>
        <p:spPr>
          <a:xfrm>
            <a:off x="838200" y="3686396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12E662-17C4-6991-FE8A-6B9B4313EE3E}"/>
              </a:ext>
            </a:extLst>
          </p:cNvPr>
          <p:cNvSpPr txBox="1"/>
          <p:nvPr/>
        </p:nvSpPr>
        <p:spPr>
          <a:xfrm>
            <a:off x="7374081" y="1667885"/>
            <a:ext cx="406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Уязвимые сети: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Бизнес-сети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Устройства Интернета вещей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E8F9487-3B8B-C046-A9A0-CB5C1F47E4A0}"/>
              </a:ext>
            </a:extLst>
          </p:cNvPr>
          <p:cNvSpPr txBox="1"/>
          <p:nvPr/>
        </p:nvSpPr>
        <p:spPr>
          <a:xfrm>
            <a:off x="7374081" y="3992563"/>
            <a:ext cx="4063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Пути в профессию: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Сертификаты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Образование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Навыки программирования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15F189-5820-1BF7-7241-CE747273B2F9}"/>
              </a:ext>
            </a:extLst>
          </p:cNvPr>
          <p:cNvSpPr txBox="1"/>
          <p:nvPr/>
        </p:nvSpPr>
        <p:spPr>
          <a:xfrm>
            <a:off x="986118" y="3992563"/>
            <a:ext cx="4063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Центры операций безопасности (SOC):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Роли в SOC (аналитики, </a:t>
            </a:r>
            <a:r>
              <a:rPr lang="ru-RU" dirty="0" err="1"/>
              <a:t>респондеры</a:t>
            </a:r>
            <a:r>
              <a:rPr lang="ru-RU" dirty="0"/>
              <a:t>, эксперты, менеджеры)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Задачи SOC</a:t>
            </a:r>
          </a:p>
        </p:txBody>
      </p:sp>
    </p:spTree>
    <p:extLst>
      <p:ext uri="{BB962C8B-B14F-4D97-AF65-F5344CB8AC3E}">
        <p14:creationId xmlns:p14="http://schemas.microsoft.com/office/powerpoint/2010/main" val="13624845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E05648F2-3A41-2CF1-10FB-BFF975B67A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18" y="0"/>
            <a:ext cx="7929563" cy="6858000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25BCB2-7298-3D69-6B1A-45048F150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Операционная система </a:t>
            </a:r>
            <a:r>
              <a:rPr lang="es-MX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AE78F9F-C6FC-831B-AAC1-6DB0129832C3}"/>
              </a:ext>
            </a:extLst>
          </p:cNvPr>
          <p:cNvSpPr txBox="1"/>
          <p:nvPr/>
        </p:nvSpPr>
        <p:spPr>
          <a:xfrm>
            <a:off x="904492" y="1668704"/>
            <a:ext cx="4665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История и архитектура Windows: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Более 40 версий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Режимы работы процессора: пользовательский и режим ядра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NTFS и её структуры данных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EDBD64E-681E-4E64-8B35-F766E4F71CE1}"/>
              </a:ext>
            </a:extLst>
          </p:cNvPr>
          <p:cNvCxnSpPr>
            <a:cxnSpLocks/>
          </p:cNvCxnSpPr>
          <p:nvPr/>
        </p:nvCxnSpPr>
        <p:spPr>
          <a:xfrm>
            <a:off x="6096000" y="1758057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27D8AD1-791A-CEB5-5A5D-779B5DF7FD10}"/>
              </a:ext>
            </a:extLst>
          </p:cNvPr>
          <p:cNvCxnSpPr/>
          <p:nvPr/>
        </p:nvCxnSpPr>
        <p:spPr>
          <a:xfrm>
            <a:off x="838200" y="3686396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6105F28-8FF0-F624-199B-D4D74C83FD53}"/>
              </a:ext>
            </a:extLst>
          </p:cNvPr>
          <p:cNvSpPr txBox="1"/>
          <p:nvPr/>
        </p:nvSpPr>
        <p:spPr>
          <a:xfrm>
            <a:off x="7187044" y="1668704"/>
            <a:ext cx="4294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Процессы и реестр: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Процессы и потоки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Службы в Windows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Реестр и его пять разделов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05F8BC5-3838-3E33-62A6-416E47BA03B1}"/>
              </a:ext>
            </a:extLst>
          </p:cNvPr>
          <p:cNvSpPr txBox="1"/>
          <p:nvPr/>
        </p:nvSpPr>
        <p:spPr>
          <a:xfrm>
            <a:off x="7187044" y="3992563"/>
            <a:ext cx="44092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Инструменты для обеспечения безопасности: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netstat</a:t>
            </a:r>
            <a:r>
              <a:rPr lang="ru-RU" dirty="0"/>
              <a:t> для проверки соединений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Просмотр событий (Event </a:t>
            </a:r>
            <a:r>
              <a:rPr lang="ru-RU" dirty="0" err="1"/>
              <a:t>Viewer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Настройка Windows Defender и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Локальная политика безопасности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BD4AB52-2998-29DE-91D5-C01BDC9EAEB9}"/>
              </a:ext>
            </a:extLst>
          </p:cNvPr>
          <p:cNvSpPr txBox="1"/>
          <p:nvPr/>
        </p:nvSpPr>
        <p:spPr>
          <a:xfrm>
            <a:off x="986117" y="3992563"/>
            <a:ext cx="4583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Роль администратора: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Управление пользователями и группами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Сетевые настройки и мониторинг ресурсов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Удалённое управление</a:t>
            </a:r>
          </a:p>
        </p:txBody>
      </p:sp>
    </p:spTree>
    <p:extLst>
      <p:ext uri="{BB962C8B-B14F-4D97-AF65-F5344CB8AC3E}">
        <p14:creationId xmlns:p14="http://schemas.microsoft.com/office/powerpoint/2010/main" val="132502481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E58B5-AB83-C081-6EF7-7BD50CD1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3996A35F-38D4-6F07-45D6-5B49EE6E2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62B566C-B0D2-064B-E43A-3A41E642F1AB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4F6E47E-767E-1091-E87A-1B5C49879B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F96781-0A9A-6D9A-2454-F5218F2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Операционная система </a:t>
            </a:r>
            <a:r>
              <a:rPr lang="es-MX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CA7C3AAA-7F5D-47ED-A967-449A0EB80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184"/>
            <a:ext cx="10515600" cy="2847110"/>
          </a:xfrm>
        </p:spPr>
        <p:txBody>
          <a:bodyPr/>
          <a:lstStyle/>
          <a:p>
            <a:r>
              <a:rPr lang="ru-RU" dirty="0"/>
              <a:t>Инструменты и команды Linux</a:t>
            </a:r>
          </a:p>
          <a:p>
            <a:r>
              <a:rPr lang="ru-RU" dirty="0"/>
              <a:t>Администрирование Linux</a:t>
            </a:r>
          </a:p>
          <a:p>
            <a:r>
              <a:rPr lang="ru-RU" dirty="0"/>
              <a:t>Файловые системы Linux</a:t>
            </a:r>
          </a:p>
          <a:p>
            <a:r>
              <a:rPr lang="ru-RU" dirty="0"/>
              <a:t>Права доступа и ссылки</a:t>
            </a:r>
          </a:p>
          <a:p>
            <a:r>
              <a:rPr lang="ru-RU" dirty="0"/>
              <a:t>Инструменты безопасности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337139F-E60F-790D-B9D1-9BD7BC231B4A}"/>
              </a:ext>
            </a:extLst>
          </p:cNvPr>
          <p:cNvSpPr/>
          <p:nvPr/>
        </p:nvSpPr>
        <p:spPr>
          <a:xfrm>
            <a:off x="653795" y="1859973"/>
            <a:ext cx="5809350" cy="3069321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6DAF5F5-4876-4B5A-ADF8-B96236DA52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613"/>
          <a:stretch/>
        </p:blipFill>
        <p:spPr>
          <a:xfrm>
            <a:off x="6892505" y="1339222"/>
            <a:ext cx="4680078" cy="417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85219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6AE2-8AF2-F925-8AA0-579E4A39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E6C302-1FE6-C928-F927-99F1FCB39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D088E5-DDBF-97D6-C4A5-5313EE3E1BF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A9A554D-D8AD-D052-D7A1-BC0964BCA6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805DA5-1478-D1B2-7A5A-F7E576CF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Сетевые протоколы и сервисы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04A866-59A8-30ED-ABED-C73FC075E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517" y="2045888"/>
            <a:ext cx="4191000" cy="4259399"/>
          </a:xfrm>
        </p:spPr>
        <p:txBody>
          <a:bodyPr/>
          <a:lstStyle/>
          <a:p>
            <a:r>
              <a:rPr lang="es-MX" dirty="0"/>
              <a:t>Ethernet</a:t>
            </a:r>
            <a:endParaRPr lang="ru-RU" dirty="0"/>
          </a:p>
          <a:p>
            <a:r>
              <a:rPr lang="es-MX" dirty="0"/>
              <a:t>IP (IPv4 </a:t>
            </a:r>
            <a:r>
              <a:rPr lang="ru-RU" dirty="0"/>
              <a:t>и </a:t>
            </a:r>
            <a:r>
              <a:rPr lang="es-MX" dirty="0"/>
              <a:t>IPv6)</a:t>
            </a:r>
            <a:endParaRPr lang="ru-RU" dirty="0"/>
          </a:p>
          <a:p>
            <a:r>
              <a:rPr lang="es-MX" dirty="0"/>
              <a:t>ICMP</a:t>
            </a:r>
          </a:p>
          <a:p>
            <a:r>
              <a:rPr lang="es-MX" dirty="0"/>
              <a:t>ARP</a:t>
            </a:r>
            <a:endParaRPr lang="ru-RU" dirty="0"/>
          </a:p>
          <a:p>
            <a:r>
              <a:rPr lang="es-MX" dirty="0"/>
              <a:t>TCP/UDP</a:t>
            </a:r>
            <a:endParaRPr lang="ru-RU" dirty="0"/>
          </a:p>
          <a:p>
            <a:r>
              <a:rPr lang="ru-RU" dirty="0"/>
              <a:t>Сетевые сервисы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BDF0DA-9E4D-ABA9-A029-B2A9C825B531}"/>
              </a:ext>
            </a:extLst>
          </p:cNvPr>
          <p:cNvSpPr/>
          <p:nvPr/>
        </p:nvSpPr>
        <p:spPr>
          <a:xfrm>
            <a:off x="1112656" y="1767327"/>
            <a:ext cx="4385982" cy="3733466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8441F7-470F-08D4-61CE-95864D478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485" y="1416158"/>
            <a:ext cx="5272748" cy="44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0425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55F0-3C9C-8E1C-FD4C-2452C471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A5DF33C-F0CE-5128-33BA-A5B82E9B3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136EA6-CBFB-FD03-31A7-7346B681F31A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B7F535-0687-E4BD-3262-6D4F0251A9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9774B2-07C6-BB05-EFA3-C8A88843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es-MX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 de red</a:t>
            </a:r>
            <a:endParaRPr lang="ru-RU" sz="2800" b="1" dirty="0">
              <a:solidFill>
                <a:srgbClr val="0073B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87EE32-7BAA-330F-68DA-4DA5B2C56E9D}"/>
              </a:ext>
            </a:extLst>
          </p:cNvPr>
          <p:cNvSpPr txBox="1"/>
          <p:nvPr/>
        </p:nvSpPr>
        <p:spPr>
          <a:xfrm>
            <a:off x="904492" y="1668704"/>
            <a:ext cx="46650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Сетевые устройства: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Маршрутизаторы и их роль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Коммутаторы и многослойные коммутаторы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Беспроводные устройства (802.11 стандарт)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E97E7E-60B3-445C-57CC-B69B81ED255F}"/>
              </a:ext>
            </a:extLst>
          </p:cNvPr>
          <p:cNvCxnSpPr>
            <a:cxnSpLocks/>
          </p:cNvCxnSpPr>
          <p:nvPr/>
        </p:nvCxnSpPr>
        <p:spPr>
          <a:xfrm>
            <a:off x="6096000" y="1758057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2EC53CC-383F-83A9-0FB8-36D29B880F38}"/>
              </a:ext>
            </a:extLst>
          </p:cNvPr>
          <p:cNvCxnSpPr/>
          <p:nvPr/>
        </p:nvCxnSpPr>
        <p:spPr>
          <a:xfrm>
            <a:off x="838200" y="3686396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58A613F-AFD6-361E-0A9E-397DB96FD97A}"/>
              </a:ext>
            </a:extLst>
          </p:cNvPr>
          <p:cNvSpPr txBox="1"/>
          <p:nvPr/>
        </p:nvSpPr>
        <p:spPr>
          <a:xfrm>
            <a:off x="7187044" y="1668704"/>
            <a:ext cx="4294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Типы </a:t>
            </a:r>
            <a:r>
              <a:rPr lang="ru-RU" b="1" dirty="0" err="1"/>
              <a:t>фаерволов</a:t>
            </a:r>
            <a:r>
              <a:rPr lang="ru-RU" b="1" dirty="0"/>
              <a:t>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Фильтрация пакетов (</a:t>
            </a:r>
            <a:r>
              <a:rPr lang="ru-RU" dirty="0" err="1"/>
              <a:t>stateless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Состояниевой</a:t>
            </a:r>
            <a:r>
              <a:rPr lang="ru-RU" dirty="0"/>
              <a:t> </a:t>
            </a:r>
            <a:r>
              <a:rPr lang="ru-RU" dirty="0" err="1"/>
              <a:t>фаервол</a:t>
            </a:r>
            <a:r>
              <a:rPr lang="ru-RU" dirty="0"/>
              <a:t> (</a:t>
            </a:r>
            <a:r>
              <a:rPr lang="ru-RU" dirty="0" err="1"/>
              <a:t>stateful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Фаервол</a:t>
            </a:r>
            <a:r>
              <a:rPr lang="ru-RU" dirty="0"/>
              <a:t> уровня приложений (</a:t>
            </a:r>
            <a:r>
              <a:rPr lang="ru-RU" dirty="0" err="1"/>
              <a:t>proxy</a:t>
            </a:r>
            <a:r>
              <a:rPr lang="ru-RU" dirty="0"/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5EA38E-F919-B958-5092-D9E5AA212C07}"/>
              </a:ext>
            </a:extLst>
          </p:cNvPr>
          <p:cNvSpPr txBox="1"/>
          <p:nvPr/>
        </p:nvSpPr>
        <p:spPr>
          <a:xfrm>
            <a:off x="7187044" y="3992563"/>
            <a:ext cx="4409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Топологии сети: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Физическая и логическая топология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Зоны безопасности: DMZ и другие</a:t>
            </a:r>
          </a:p>
        </p:txBody>
      </p:sp>
      <p:pic>
        <p:nvPicPr>
          <p:cNvPr id="18" name="Imagen 17" descr="Texto&#10;&#10;Descripción generada automáticamente con confianza baja">
            <a:extLst>
              <a:ext uri="{FF2B5EF4-FFF2-40B4-BE49-F238E27FC236}">
                <a16:creationId xmlns:a16="http://schemas.microsoft.com/office/drawing/2014/main" id="{BB57FA71-00F5-6589-E797-246EB98222E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1413" y1="17857" x2="51413" y2="17857"/>
                        <a14:foregroundMark x1="51630" y1="22000" x2="51630" y2="22000"/>
                        <a14:foregroundMark x1="50543" y1="29571" x2="50543" y2="29571"/>
                        <a14:foregroundMark x1="49891" y1="36000" x2="49891" y2="36000"/>
                        <a14:foregroundMark x1="49783" y1="39571" x2="49783" y2="39571"/>
                        <a14:foregroundMark x1="50000" y1="44857" x2="50000" y2="44857"/>
                        <a14:foregroundMark x1="49891" y1="48286" x2="49891" y2="48286"/>
                        <a14:foregroundMark x1="49565" y1="50714" x2="49565" y2="50714"/>
                        <a14:foregroundMark x1="49239" y1="53143" x2="49239" y2="53143"/>
                        <a14:foregroundMark x1="51957" y1="59000" x2="51957" y2="59000"/>
                        <a14:foregroundMark x1="53913" y1="59714" x2="53913" y2="59714"/>
                        <a14:foregroundMark x1="55652" y1="57000" x2="55652" y2="57000"/>
                        <a14:foregroundMark x1="52283" y1="65857" x2="52283" y2="65857"/>
                        <a14:foregroundMark x1="51957" y1="68143" x2="51957" y2="68143"/>
                        <a14:foregroundMark x1="51848" y1="70714" x2="51848" y2="70714"/>
                        <a14:foregroundMark x1="33370" y1="67571" x2="33370" y2="67571"/>
                        <a14:foregroundMark x1="35543" y1="38286" x2="35543" y2="38286"/>
                        <a14:foregroundMark x1="62935" y1="39143" x2="62935" y2="39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83" y="0"/>
            <a:ext cx="11441906" cy="870579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909B378-E952-52A1-7B0A-A8121A6C51C2}"/>
              </a:ext>
            </a:extLst>
          </p:cNvPr>
          <p:cNvSpPr txBox="1"/>
          <p:nvPr/>
        </p:nvSpPr>
        <p:spPr>
          <a:xfrm>
            <a:off x="986117" y="3992563"/>
            <a:ext cx="4583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Сетевые сервисы безопасности: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ACL, SNMP, NetFlow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Port </a:t>
            </a:r>
            <a:r>
              <a:rPr lang="es-MX" dirty="0" err="1"/>
              <a:t>mirroring</a:t>
            </a:r>
            <a:r>
              <a:rPr lang="es-MX" dirty="0"/>
              <a:t> </a:t>
            </a:r>
            <a:r>
              <a:rPr lang="ru-RU" dirty="0"/>
              <a:t>и </a:t>
            </a:r>
            <a:r>
              <a:rPr lang="es-MX" dirty="0" err="1"/>
              <a:t>Syslog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NTP, AAA </a:t>
            </a:r>
            <a:r>
              <a:rPr lang="ru-RU" dirty="0"/>
              <a:t>и </a:t>
            </a:r>
            <a:r>
              <a:rPr lang="es-MX" dirty="0"/>
              <a:t>VPN</a:t>
            </a:r>
          </a:p>
        </p:txBody>
      </p:sp>
    </p:spTree>
    <p:extLst>
      <p:ext uri="{BB962C8B-B14F-4D97-AF65-F5344CB8AC3E}">
        <p14:creationId xmlns:p14="http://schemas.microsoft.com/office/powerpoint/2010/main" val="202169969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97C7-C2AD-154C-B2DD-F90C8D68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2D1B4C2E-FE30-5B76-C502-DD60243A6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0AA913-F128-82B7-A80B-88C4875CE11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09FA11-AB2A-AE27-41B4-E0BD7D0A15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3D45AB3-4BC3-534A-94E1-32D70F4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Принципы сетевой безопасности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B29395-36B4-74FF-9F64-8A25EB2E5B6C}"/>
              </a:ext>
            </a:extLst>
          </p:cNvPr>
          <p:cNvSpPr txBox="1"/>
          <p:nvPr/>
        </p:nvSpPr>
        <p:spPr>
          <a:xfrm>
            <a:off x="904492" y="1107595"/>
            <a:ext cx="4665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Злоумышленники и их инструменты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Виды угроз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Инструменты для атак (взломщики паролей, снифферы, программы для создания пакетов)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1E1EC79-DFED-5C6D-E593-19D6F11A7CDC}"/>
              </a:ext>
            </a:extLst>
          </p:cNvPr>
          <p:cNvCxnSpPr>
            <a:cxnSpLocks/>
          </p:cNvCxnSpPr>
          <p:nvPr/>
        </p:nvCxnSpPr>
        <p:spPr>
          <a:xfrm>
            <a:off x="6096000" y="1196948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A35C97A-B1B7-5D3D-A06C-244355B3440A}"/>
              </a:ext>
            </a:extLst>
          </p:cNvPr>
          <p:cNvCxnSpPr/>
          <p:nvPr/>
        </p:nvCxnSpPr>
        <p:spPr>
          <a:xfrm>
            <a:off x="838200" y="29694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B793A70-AADA-CABC-F796-D67DC63FD7DD}"/>
              </a:ext>
            </a:extLst>
          </p:cNvPr>
          <p:cNvSpPr txBox="1"/>
          <p:nvPr/>
        </p:nvSpPr>
        <p:spPr>
          <a:xfrm>
            <a:off x="7187044" y="1107595"/>
            <a:ext cx="42948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Типы атак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Подслушивание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Взлом паролей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Атаки "отказ в обслуживании" (</a:t>
            </a:r>
            <a:r>
              <a:rPr lang="ru-RU" dirty="0" err="1"/>
              <a:t>DoS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Манипуляции с данными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C54E84-A3F0-042B-D51E-FF4DB6EB19F7}"/>
              </a:ext>
            </a:extLst>
          </p:cNvPr>
          <p:cNvSpPr txBox="1"/>
          <p:nvPr/>
        </p:nvSpPr>
        <p:spPr>
          <a:xfrm>
            <a:off x="7187044" y="3223634"/>
            <a:ext cx="44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Методы уклонения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Шифрование и туннелирование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Фрагментация трафика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Подмена и вставка трафика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C1DD21-0A6C-3EC4-E376-A569954B0132}"/>
              </a:ext>
            </a:extLst>
          </p:cNvPr>
          <p:cNvSpPr txBox="1"/>
          <p:nvPr/>
        </p:nvSpPr>
        <p:spPr>
          <a:xfrm>
            <a:off x="986117" y="3223634"/>
            <a:ext cx="4583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Малварь</a:t>
            </a:r>
            <a:r>
              <a:rPr lang="ru-RU" b="1" dirty="0"/>
              <a:t> (вредоносные программы)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Вирусы, черви, троянцы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Программное обеспечение-вымогатель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D5AC07E-4B15-CF06-C5AC-A054FDAB25B6}"/>
              </a:ext>
            </a:extLst>
          </p:cNvPr>
          <p:cNvSpPr txBox="1"/>
          <p:nvPr/>
        </p:nvSpPr>
        <p:spPr>
          <a:xfrm>
            <a:off x="3470565" y="5178356"/>
            <a:ext cx="7263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Социальная инженерия и атаки на доступ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Манипуляции с пользователями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Эксплуатация уязвимостей для получения доступа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08E658D-1235-C738-AAB2-CCC1A6B1F96F}"/>
              </a:ext>
            </a:extLst>
          </p:cNvPr>
          <p:cNvCxnSpPr>
            <a:cxnSpLocks/>
          </p:cNvCxnSpPr>
          <p:nvPr/>
        </p:nvCxnSpPr>
        <p:spPr>
          <a:xfrm flipV="1">
            <a:off x="3034148" y="4665518"/>
            <a:ext cx="6078681" cy="4549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6" name="Imagen 35" descr="Icono&#10;&#10;Descripción generada automáticamente">
            <a:extLst>
              <a:ext uri="{FF2B5EF4-FFF2-40B4-BE49-F238E27FC236}">
                <a16:creationId xmlns:a16="http://schemas.microsoft.com/office/drawing/2014/main" id="{9685428B-8922-2DF6-FD4F-01994A88588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2174" y1="20508" x2="42174" y2="20508"/>
                        <a14:foregroundMark x1="66087" y1="34570" x2="66087" y2="34570"/>
                        <a14:foregroundMark x1="47500" y1="48633" x2="47500" y2="48633"/>
                        <a14:foregroundMark x1="46413" y1="73047" x2="46413" y2="730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10" y="415391"/>
            <a:ext cx="1051560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1975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6FA0-935A-66D6-75F0-CAB198D2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4FDDFC07-5C1E-AFD7-20D7-1EAD1D0AF5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A3C65C2-ACB8-6390-28B4-D2CA78B127D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17056D-32DD-431F-2D47-2F810EE9B9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AD74DDA-243D-DDCC-619C-36CD0F0F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Атаки на сети: глубокий анализ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43171A-8EF6-69B4-6150-ECFEB4737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91"/>
            <a:ext cx="5728855" cy="283671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Мониторинг сети и инструменты безопасности</a:t>
            </a:r>
          </a:p>
          <a:p>
            <a:r>
              <a:rPr lang="ru-RU" dirty="0"/>
              <a:t>Уязвимости IP</a:t>
            </a:r>
          </a:p>
          <a:p>
            <a:r>
              <a:rPr lang="ru-RU" dirty="0"/>
              <a:t>Уязвимости TCP и UDP</a:t>
            </a:r>
          </a:p>
          <a:p>
            <a:r>
              <a:rPr lang="ru-RU" dirty="0"/>
              <a:t>Уязвимости IP-сервисов</a:t>
            </a:r>
          </a:p>
          <a:p>
            <a:r>
              <a:rPr lang="ru-RU" dirty="0"/>
              <a:t>Веб-атаки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0689F1-2353-BAFB-C467-E24AA73BD735}"/>
              </a:ext>
            </a:extLst>
          </p:cNvPr>
          <p:cNvSpPr/>
          <p:nvPr/>
        </p:nvSpPr>
        <p:spPr>
          <a:xfrm>
            <a:off x="838199" y="1664577"/>
            <a:ext cx="5728855" cy="3260714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3502B7-CB64-75D8-1798-1D79B281A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569" y="1380409"/>
            <a:ext cx="436245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0637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2FA9-8A00-41C7-79F6-B3DC1435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127144D-86CE-E9FC-998A-591BD1A60C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A22F84-EF13-6BB4-947B-179400470FF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603313B-D3B5-67A2-8619-D03A3E19D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41AE021-08C6-B0BB-A84E-C3545D02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Защита сети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6C4642-0BC9-0C1F-060B-7E85E7031E58}"/>
              </a:ext>
            </a:extLst>
          </p:cNvPr>
          <p:cNvSpPr txBox="1"/>
          <p:nvPr/>
        </p:nvSpPr>
        <p:spPr>
          <a:xfrm>
            <a:off x="904492" y="1107595"/>
            <a:ext cx="4665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Многослойная защита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Уровни безопасности на границе сети, внутри сети и на конечных устройствах.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0CFBE5B-D2DF-D7F6-6410-52952105516C}"/>
              </a:ext>
            </a:extLst>
          </p:cNvPr>
          <p:cNvCxnSpPr>
            <a:cxnSpLocks/>
          </p:cNvCxnSpPr>
          <p:nvPr/>
        </p:nvCxnSpPr>
        <p:spPr>
          <a:xfrm>
            <a:off x="6096000" y="1196948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9704B49-528A-98D0-DA71-89B7ED519228}"/>
              </a:ext>
            </a:extLst>
          </p:cNvPr>
          <p:cNvCxnSpPr/>
          <p:nvPr/>
        </p:nvCxnSpPr>
        <p:spPr>
          <a:xfrm>
            <a:off x="838200" y="29694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914E8B3-0604-5D99-C37A-1E1CEC53EE0B}"/>
              </a:ext>
            </a:extLst>
          </p:cNvPr>
          <p:cNvSpPr txBox="1"/>
          <p:nvPr/>
        </p:nvSpPr>
        <p:spPr>
          <a:xfrm>
            <a:off x="7187045" y="1107595"/>
            <a:ext cx="4166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Политики безопасности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Политики для бизнеса, безопасности, BYOD и соблюдения законодательства.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399399-697C-97AC-0F43-99C50CA0D416}"/>
              </a:ext>
            </a:extLst>
          </p:cNvPr>
          <p:cNvSpPr txBox="1"/>
          <p:nvPr/>
        </p:nvSpPr>
        <p:spPr>
          <a:xfrm>
            <a:off x="7187044" y="3223634"/>
            <a:ext cx="4409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AAA безопасность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Аутентификация, авторизация, учёт действий пользователей.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E9AF41-3E0C-D9CB-7D47-A64CD57292B5}"/>
              </a:ext>
            </a:extLst>
          </p:cNvPr>
          <p:cNvSpPr txBox="1"/>
          <p:nvPr/>
        </p:nvSpPr>
        <p:spPr>
          <a:xfrm>
            <a:off x="986117" y="3223634"/>
            <a:ext cx="4583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Методы контроля доступа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Модели: обязательный, дискреционный, </a:t>
            </a:r>
            <a:r>
              <a:rPr lang="ru-RU" dirty="0" err="1"/>
              <a:t>недискреционный</a:t>
            </a:r>
            <a:r>
              <a:rPr lang="ru-RU" dirty="0"/>
              <a:t> и на основе атрибутов.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E54839-F308-98F3-1A18-5810EE7B378B}"/>
              </a:ext>
            </a:extLst>
          </p:cNvPr>
          <p:cNvSpPr txBox="1"/>
          <p:nvPr/>
        </p:nvSpPr>
        <p:spPr>
          <a:xfrm>
            <a:off x="2400307" y="5178356"/>
            <a:ext cx="858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Источники угроз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Сервисы анализа угроз: Cisco </a:t>
            </a:r>
            <a:r>
              <a:rPr lang="ru-RU" dirty="0" err="1"/>
              <a:t>Talos</a:t>
            </a:r>
            <a:r>
              <a:rPr lang="ru-RU" dirty="0"/>
              <a:t>, </a:t>
            </a:r>
            <a:r>
              <a:rPr lang="ru-RU" dirty="0" err="1"/>
              <a:t>FireEye</a:t>
            </a:r>
            <a:r>
              <a:rPr lang="ru-RU" dirty="0"/>
              <a:t>, CVE, и стандарты STIX и TAXII.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769A8B4-C593-FEC0-1EC7-056EDDACDBC4}"/>
              </a:ext>
            </a:extLst>
          </p:cNvPr>
          <p:cNvCxnSpPr>
            <a:cxnSpLocks/>
          </p:cNvCxnSpPr>
          <p:nvPr/>
        </p:nvCxnSpPr>
        <p:spPr>
          <a:xfrm flipV="1">
            <a:off x="3273141" y="4665518"/>
            <a:ext cx="6078681" cy="4549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Imagen 18" descr="Icono&#10;&#10;Descripción generada automáticamente">
            <a:extLst>
              <a:ext uri="{FF2B5EF4-FFF2-40B4-BE49-F238E27FC236}">
                <a16:creationId xmlns:a16="http://schemas.microsoft.com/office/drawing/2014/main" id="{EC3B72C1-57DD-5D8D-34C7-8B6EBF3BC9D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6" b="96667" l="9167" r="91111">
                        <a14:foregroundMark x1="17778" y1="14444" x2="17778" y2="14444"/>
                        <a14:foregroundMark x1="9167" y1="25833" x2="9167" y2="25833"/>
                        <a14:foregroundMark x1="42778" y1="6111" x2="36944" y2="8611"/>
                        <a14:foregroundMark x1="49444" y1="1111" x2="49444" y2="3611"/>
                        <a14:foregroundMark x1="32222" y1="91389" x2="51111" y2="96667"/>
                        <a14:foregroundMark x1="90833" y1="50556" x2="91111" y2="186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855" y="775855"/>
            <a:ext cx="5306290" cy="530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7661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599BE-116D-DBDD-71B5-2D6800E7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0D18EB71-1415-838C-0B99-0C1D6ACD11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7D5CFF5-12D0-E4F1-8F3A-51A2D0100291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178A1B5-AD40-4ACF-666F-9EF1184581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1BB4C6-4DDB-E36B-E2F2-9F6AA6FA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Криптография и инфраструктура открытых ключей (PKI)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89C0FC-7AFF-0B60-8B52-E12BD11B2E16}"/>
              </a:ext>
            </a:extLst>
          </p:cNvPr>
          <p:cNvSpPr txBox="1"/>
          <p:nvPr/>
        </p:nvSpPr>
        <p:spPr>
          <a:xfrm>
            <a:off x="904492" y="1107595"/>
            <a:ext cx="4665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Элементы криптографической защиты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Конфиденциальность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Целостность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Аутентификация отправителя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Неотказуемость</a:t>
            </a:r>
            <a:r>
              <a:rPr lang="ru-RU" dirty="0"/>
              <a:t> данных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0981D8C-9A2A-DE16-4493-24EC53EF5009}"/>
              </a:ext>
            </a:extLst>
          </p:cNvPr>
          <p:cNvCxnSpPr>
            <a:cxnSpLocks/>
          </p:cNvCxnSpPr>
          <p:nvPr/>
        </p:nvCxnSpPr>
        <p:spPr>
          <a:xfrm>
            <a:off x="6096000" y="1196948"/>
            <a:ext cx="0" cy="477782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EF6C04D-2E3F-83B2-517A-C6A632F7533F}"/>
              </a:ext>
            </a:extLst>
          </p:cNvPr>
          <p:cNvCxnSpPr/>
          <p:nvPr/>
        </p:nvCxnSpPr>
        <p:spPr>
          <a:xfrm>
            <a:off x="838200" y="29694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C7A14AD-E1F6-00F9-B21F-3972DB0F3CAB}"/>
              </a:ext>
            </a:extLst>
          </p:cNvPr>
          <p:cNvSpPr txBox="1"/>
          <p:nvPr/>
        </p:nvSpPr>
        <p:spPr>
          <a:xfrm>
            <a:off x="7187045" y="1107595"/>
            <a:ext cx="4166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Хеш-функции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MD5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SHA-1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SHA-2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9CC1D7-D009-06C1-F062-581AD4B1CFCB}"/>
              </a:ext>
            </a:extLst>
          </p:cNvPr>
          <p:cNvSpPr txBox="1"/>
          <p:nvPr/>
        </p:nvSpPr>
        <p:spPr>
          <a:xfrm>
            <a:off x="7187044" y="3223634"/>
            <a:ext cx="44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Методы шифрования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Симметричное шифрование (DES, AES)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Асимметричное шифрование (RSA, PGP)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FBFF8DF-774D-EE0C-B90B-0257781F9F62}"/>
              </a:ext>
            </a:extLst>
          </p:cNvPr>
          <p:cNvSpPr txBox="1"/>
          <p:nvPr/>
        </p:nvSpPr>
        <p:spPr>
          <a:xfrm>
            <a:off x="986117" y="3223634"/>
            <a:ext cx="4583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Аутентификация с HMAC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Использование секретного ключа для аутентификации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F94FB23-0FBE-7358-7318-A5A91D7C59DB}"/>
              </a:ext>
            </a:extLst>
          </p:cNvPr>
          <p:cNvCxnSpPr/>
          <p:nvPr/>
        </p:nvCxnSpPr>
        <p:spPr>
          <a:xfrm>
            <a:off x="838200" y="46077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B8F360-1199-A5D2-1D58-FBFA09D98E63}"/>
              </a:ext>
            </a:extLst>
          </p:cNvPr>
          <p:cNvSpPr txBox="1"/>
          <p:nvPr/>
        </p:nvSpPr>
        <p:spPr>
          <a:xfrm>
            <a:off x="7163376" y="4857804"/>
            <a:ext cx="44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Инфраструктура открытых ключей (PKI)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Цифровые сертификаты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Применения PKI (VPN, HTTPS, EFS)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9E90C25-DF9A-F2CF-D028-9DD988F19377}"/>
              </a:ext>
            </a:extLst>
          </p:cNvPr>
          <p:cNvSpPr txBox="1"/>
          <p:nvPr/>
        </p:nvSpPr>
        <p:spPr>
          <a:xfrm>
            <a:off x="962449" y="4857804"/>
            <a:ext cx="4583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Алгоритм Диффи-Хеллмана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Генерация общего секретного ключа без обмена им</a:t>
            </a:r>
          </a:p>
        </p:txBody>
      </p:sp>
      <p:pic>
        <p:nvPicPr>
          <p:cNvPr id="22" name="Imagen 21" descr="Imagen que contiene señal, texto, semáforo, reloj&#10;&#10;Descripción generada automáticamente">
            <a:extLst>
              <a:ext uri="{FF2B5EF4-FFF2-40B4-BE49-F238E27FC236}">
                <a16:creationId xmlns:a16="http://schemas.microsoft.com/office/drawing/2014/main" id="{DCDE51A6-E641-3569-07D5-F220DF72790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36" y="1014847"/>
            <a:ext cx="5243946" cy="52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1813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7B08-5773-FAAE-074B-FD654159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322008B7-4F6C-3F4B-611E-EED8B4542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E88CEAC4-1373-261B-D7B1-1DAFB2D91D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D3C1907-D076-63DB-29A9-FD54C93CBE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84E9AE-B308-8507-D863-E513131ED6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B3F328-A4DC-B36A-86F5-7A152E80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Защита концевых устройств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85662C3-622E-8398-FBB8-F1FAF51E0EFD}"/>
              </a:ext>
            </a:extLst>
          </p:cNvPr>
          <p:cNvSpPr txBox="1"/>
          <p:nvPr/>
        </p:nvSpPr>
        <p:spPr>
          <a:xfrm>
            <a:off x="904492" y="1107595"/>
            <a:ext cx="4665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Защита конечных устройств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Антивирусы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Личные межсетевые экраны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Системы обнаружения вторжений (HIDS)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F3779FC-D9B4-049B-DEEC-7174A2E5D83B}"/>
              </a:ext>
            </a:extLst>
          </p:cNvPr>
          <p:cNvCxnSpPr>
            <a:cxnSpLocks/>
          </p:cNvCxnSpPr>
          <p:nvPr/>
        </p:nvCxnSpPr>
        <p:spPr>
          <a:xfrm>
            <a:off x="6096000" y="1196948"/>
            <a:ext cx="0" cy="477782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AF580A8-32BB-60A5-68C9-032B8B74276D}"/>
              </a:ext>
            </a:extLst>
          </p:cNvPr>
          <p:cNvCxnSpPr/>
          <p:nvPr/>
        </p:nvCxnSpPr>
        <p:spPr>
          <a:xfrm>
            <a:off x="838200" y="29694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D5AC4F0-D359-DA2A-4672-EC3A4B3D270C}"/>
              </a:ext>
            </a:extLst>
          </p:cNvPr>
          <p:cNvSpPr txBox="1"/>
          <p:nvPr/>
        </p:nvSpPr>
        <p:spPr>
          <a:xfrm>
            <a:off x="7187045" y="1107595"/>
            <a:ext cx="4166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Оценка уязвимостей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Анализ рисков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Оценка уязвимостей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Тестирование на проникновение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09133A3-2A30-394A-7824-3FF6E584C390}"/>
              </a:ext>
            </a:extLst>
          </p:cNvPr>
          <p:cNvSpPr txBox="1"/>
          <p:nvPr/>
        </p:nvSpPr>
        <p:spPr>
          <a:xfrm>
            <a:off x="7187044" y="3223634"/>
            <a:ext cx="44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Регламенты безопасности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FISMA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HIPAA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PCI-DSS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27CE918-F2A6-69B4-AF73-1044C6E28D26}"/>
              </a:ext>
            </a:extLst>
          </p:cNvPr>
          <p:cNvSpPr txBox="1"/>
          <p:nvPr/>
        </p:nvSpPr>
        <p:spPr>
          <a:xfrm>
            <a:off x="758541" y="3223634"/>
            <a:ext cx="4810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CVSS (</a:t>
            </a:r>
            <a:r>
              <a:rPr lang="es-MX" b="1" dirty="0" err="1"/>
              <a:t>Common</a:t>
            </a:r>
            <a:r>
              <a:rPr lang="es-MX" b="1" dirty="0"/>
              <a:t> </a:t>
            </a:r>
            <a:r>
              <a:rPr lang="es-MX" b="1" dirty="0" err="1"/>
              <a:t>Vulnerability</a:t>
            </a:r>
            <a:r>
              <a:rPr lang="es-MX" b="1" dirty="0"/>
              <a:t> </a:t>
            </a:r>
            <a:r>
              <a:rPr lang="es-MX" b="1" dirty="0" err="1"/>
              <a:t>Scoring</a:t>
            </a:r>
            <a:r>
              <a:rPr lang="es-MX" b="1" dirty="0"/>
              <a:t> System)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Стандартизированные оценки уязвимостей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Приоритетность рисков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59855DC-B361-9718-3846-38F6EC65CFEC}"/>
              </a:ext>
            </a:extLst>
          </p:cNvPr>
          <p:cNvCxnSpPr/>
          <p:nvPr/>
        </p:nvCxnSpPr>
        <p:spPr>
          <a:xfrm>
            <a:off x="838200" y="46077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CB0DB05-8D21-516F-5318-265D4B6C0557}"/>
              </a:ext>
            </a:extLst>
          </p:cNvPr>
          <p:cNvSpPr txBox="1"/>
          <p:nvPr/>
        </p:nvSpPr>
        <p:spPr>
          <a:xfrm>
            <a:off x="7163376" y="4857804"/>
            <a:ext cx="4409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ISMS (Система управления информационной безопасностью)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Стандарты ISO и NIST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A371968-D9C3-1375-6570-74B73EA6DFF5}"/>
              </a:ext>
            </a:extLst>
          </p:cNvPr>
          <p:cNvSpPr txBox="1"/>
          <p:nvPr/>
        </p:nvSpPr>
        <p:spPr>
          <a:xfrm>
            <a:off x="962449" y="4857804"/>
            <a:ext cx="4583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Управление рисками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Избежание рисков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Уменьшение рисков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Разделение рисков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Принятие рисков</a:t>
            </a:r>
          </a:p>
        </p:txBody>
      </p:sp>
      <p:pic>
        <p:nvPicPr>
          <p:cNvPr id="26" name="Imagen 25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6345CEF-8C7F-C145-988D-A36B8B4116E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315" b="95304" l="4022" r="95435">
                        <a14:foregroundMark x1="22609" y1="78177" x2="31087" y2="79144"/>
                        <a14:foregroundMark x1="22174" y1="80110" x2="42609" y2="83978"/>
                        <a14:foregroundMark x1="42609" y1="83978" x2="58152" y2="81630"/>
                        <a14:foregroundMark x1="58152" y1="81630" x2="50761" y2="76519"/>
                        <a14:foregroundMark x1="50761" y1="76519" x2="30217" y2="76796"/>
                        <a14:foregroundMark x1="30217" y1="76796" x2="24891" y2="83287"/>
                        <a14:foregroundMark x1="24891" y1="83287" x2="63696" y2="91575"/>
                        <a14:foregroundMark x1="63696" y1="91575" x2="84022" y2="88122"/>
                        <a14:foregroundMark x1="84022" y1="88122" x2="68587" y2="79558"/>
                        <a14:foregroundMark x1="68587" y1="79558" x2="38370" y2="80249"/>
                        <a14:foregroundMark x1="38370" y1="80249" x2="37500" y2="89503"/>
                        <a14:foregroundMark x1="37500" y1="89503" x2="47717" y2="95718"/>
                        <a14:foregroundMark x1="47717" y1="95718" x2="76522" y2="96823"/>
                        <a14:foregroundMark x1="76522" y1="96823" x2="86087" y2="96271"/>
                        <a14:foregroundMark x1="86087" y1="96271" x2="90978" y2="89227"/>
                        <a14:foregroundMark x1="90978" y1="89227" x2="86848" y2="79144"/>
                        <a14:foregroundMark x1="9348" y1="87569" x2="20000" y2="95166"/>
                        <a14:foregroundMark x1="20000" y1="95166" x2="34891" y2="95304"/>
                        <a14:foregroundMark x1="4130" y1="94613" x2="7391" y2="91160"/>
                        <a14:foregroundMark x1="30978" y1="43094" x2="32609" y2="39227"/>
                        <a14:foregroundMark x1="32174" y1="39503" x2="46087" y2="37017"/>
                        <a14:foregroundMark x1="46087" y1="37017" x2="46630" y2="37017"/>
                        <a14:foregroundMark x1="55000" y1="47238" x2="60435" y2="37983"/>
                        <a14:foregroundMark x1="72609" y1="40193" x2="74022" y2="28039"/>
                        <a14:foregroundMark x1="75217" y1="15055" x2="75217" y2="15055"/>
                        <a14:foregroundMark x1="75217" y1="15055" x2="71087" y2="20166"/>
                        <a14:foregroundMark x1="71087" y1="20166" x2="74891" y2="36188"/>
                        <a14:foregroundMark x1="74891" y1="36188" x2="86739" y2="23343"/>
                        <a14:foregroundMark x1="86739" y1="23343" x2="78587" y2="15746"/>
                        <a14:foregroundMark x1="78587" y1="15746" x2="78261" y2="15884"/>
                        <a14:foregroundMark x1="84891" y1="14641" x2="77391" y2="42265"/>
                        <a14:foregroundMark x1="77609" y1="9392" x2="87500" y2="13674"/>
                        <a14:foregroundMark x1="87500" y1="13674" x2="88696" y2="22514"/>
                        <a14:foregroundMark x1="88696" y1="22514" x2="84130" y2="40470"/>
                        <a14:foregroundMark x1="84130" y1="40470" x2="75543" y2="50276"/>
                        <a14:foregroundMark x1="59239" y1="34945" x2="59239" y2="34945"/>
                        <a14:foregroundMark x1="59130" y1="32735" x2="61413" y2="56768"/>
                        <a14:foregroundMark x1="59239" y1="17680" x2="59239" y2="17680"/>
                        <a14:foregroundMark x1="59239" y1="17680" x2="59022" y2="10083"/>
                        <a14:foregroundMark x1="64891" y1="7735" x2="72826" y2="5663"/>
                        <a14:foregroundMark x1="78261" y1="3453" x2="82500" y2="6492"/>
                        <a14:foregroundMark x1="76196" y1="54834" x2="79239" y2="53867"/>
                        <a14:foregroundMark x1="83804" y1="49033" x2="87174" y2="43785"/>
                        <a14:foregroundMark x1="86848" y1="43785" x2="89130" y2="39365"/>
                        <a14:foregroundMark x1="89239" y1="40055" x2="92826" y2="26243"/>
                        <a14:foregroundMark x1="92826" y1="26243" x2="92935" y2="24586"/>
                        <a14:foregroundMark x1="90217" y1="34116" x2="80109" y2="48619"/>
                        <a14:foregroundMark x1="80109" y1="48619" x2="74239" y2="49586"/>
                        <a14:foregroundMark x1="74239" y1="49586" x2="68804" y2="44890"/>
                        <a14:foregroundMark x1="68804" y1="44890" x2="64565" y2="38122"/>
                        <a14:foregroundMark x1="64130" y1="37983" x2="60870" y2="13536"/>
                        <a14:foregroundMark x1="60543" y1="13950" x2="74565" y2="5801"/>
                        <a14:foregroundMark x1="74565" y1="5801" x2="90000" y2="10221"/>
                        <a14:foregroundMark x1="90000" y1="10221" x2="93804" y2="18370"/>
                        <a14:foregroundMark x1="93804" y1="18370" x2="92717" y2="27072"/>
                        <a14:foregroundMark x1="93587" y1="17265" x2="90978" y2="9807"/>
                        <a14:foregroundMark x1="90978" y1="9807" x2="85978" y2="8425"/>
                        <a14:foregroundMark x1="32826" y1="32459" x2="59565" y2="31768"/>
                        <a14:foregroundMark x1="59565" y1="31768" x2="59783" y2="31768"/>
                        <a14:foregroundMark x1="32500" y1="28591" x2="30000" y2="40193"/>
                        <a14:foregroundMark x1="86304" y1="96409" x2="94565" y2="94751"/>
                        <a14:foregroundMark x1="94565" y1="94751" x2="95435" y2="947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739" y="779320"/>
            <a:ext cx="7156522" cy="563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1990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6B39-B8DA-FF19-B526-DEBDC39F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E88CEAC4-1373-261B-D7B1-1DAFB2D91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EFA4DD1-3BFC-668D-6D60-1399931BB6B2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E992F6E-EF77-D6A8-3483-3A979B6DBF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678DB29-5AC7-BDA5-D689-0DD4285D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безопасности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6580A5-7AD3-6D39-F52D-CEBEA049FB20}"/>
              </a:ext>
            </a:extLst>
          </p:cNvPr>
          <p:cNvSpPr txBox="1"/>
          <p:nvPr/>
        </p:nvSpPr>
        <p:spPr>
          <a:xfrm>
            <a:off x="904492" y="1668704"/>
            <a:ext cx="4665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Использование протоколов для мониторинга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Syslog</a:t>
            </a:r>
            <a:r>
              <a:rPr lang="ru-RU" dirty="0"/>
              <a:t>: Протокол для логирования событий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NTP: Временные метки для точности логов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79A2B48-0C29-58FD-4C3D-03107BD66345}"/>
              </a:ext>
            </a:extLst>
          </p:cNvPr>
          <p:cNvCxnSpPr>
            <a:cxnSpLocks/>
          </p:cNvCxnSpPr>
          <p:nvPr/>
        </p:nvCxnSpPr>
        <p:spPr>
          <a:xfrm>
            <a:off x="6096000" y="1758057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1B3421-B7C7-220D-1AC1-BC079D59B2F7}"/>
              </a:ext>
            </a:extLst>
          </p:cNvPr>
          <p:cNvCxnSpPr/>
          <p:nvPr/>
        </p:nvCxnSpPr>
        <p:spPr>
          <a:xfrm>
            <a:off x="838200" y="3686396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7D0ED0F-A2B7-25A9-EF72-9A738E0CCEF8}"/>
              </a:ext>
            </a:extLst>
          </p:cNvPr>
          <p:cNvSpPr txBox="1"/>
          <p:nvPr/>
        </p:nvSpPr>
        <p:spPr>
          <a:xfrm>
            <a:off x="7187044" y="1668704"/>
            <a:ext cx="4294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Уязвимые протоколы и сложность мониторинга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Протоколы, требующие активного мониторинга: DNS, HTTP, ICMP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Влияние NAT, PAT и зашифрованного трафика на мониторинг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414AF3-8E77-7EEA-C83F-A524A596BD40}"/>
              </a:ext>
            </a:extLst>
          </p:cNvPr>
          <p:cNvSpPr txBox="1"/>
          <p:nvPr/>
        </p:nvSpPr>
        <p:spPr>
          <a:xfrm>
            <a:off x="7187044" y="3992563"/>
            <a:ext cx="44092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Логи безопасности и их значение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Виды логов: хосты, серверы, веб и сетевые логи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Типы данных: предупреждения, сессии, полные захваты пакетов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08295E-DA70-D70E-E7AC-7CF0C90F4C82}"/>
              </a:ext>
            </a:extLst>
          </p:cNvPr>
          <p:cNvSpPr txBox="1"/>
          <p:nvPr/>
        </p:nvSpPr>
        <p:spPr>
          <a:xfrm>
            <a:off x="986117" y="3992563"/>
            <a:ext cx="4583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Трудности безопасности и скрытые угрозы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P2P-сети и обход </a:t>
            </a:r>
            <a:r>
              <a:rPr lang="ru-RU" dirty="0" err="1"/>
              <a:t>фаерволов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Распространение вредоносного ПО через труднодоступные каналы</a:t>
            </a:r>
          </a:p>
        </p:txBody>
      </p:sp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1D63549D-65A0-4ED7-2E0E-15B55D4BCC5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509" y="1039918"/>
            <a:ext cx="5430982" cy="543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2669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D884-B2E4-9B64-61E0-9D1DD5DB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1C777FB-ED72-3971-7163-5F09E2134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E88CEAC4-1373-261B-D7B1-1DAFB2D91D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18B74CF-32A9-7F71-A903-7E431633787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917D773-85A6-AE97-3524-7E8532D2C5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739E6D-7DB3-8CF0-A076-4B8B4063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данных о взломах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F41B914-C11C-F6A4-8EB1-ECA1D1C21A90}"/>
              </a:ext>
            </a:extLst>
          </p:cNvPr>
          <p:cNvSpPr txBox="1"/>
          <p:nvPr/>
        </p:nvSpPr>
        <p:spPr>
          <a:xfrm>
            <a:off x="653796" y="1107595"/>
            <a:ext cx="4915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Что такое Security </a:t>
            </a:r>
            <a:r>
              <a:rPr lang="ru-RU" b="1" dirty="0" err="1"/>
              <a:t>Onion</a:t>
            </a:r>
            <a:r>
              <a:rPr lang="ru-RU" b="1" dirty="0"/>
              <a:t>?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Обзор набора инструментов для анализа безопасности.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Важность для аналитиков безопасности.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1A1DDDC-E56A-755A-4F46-75E9C0CEF382}"/>
              </a:ext>
            </a:extLst>
          </p:cNvPr>
          <p:cNvCxnSpPr>
            <a:cxnSpLocks/>
          </p:cNvCxnSpPr>
          <p:nvPr/>
        </p:nvCxnSpPr>
        <p:spPr>
          <a:xfrm>
            <a:off x="6096000" y="1196948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520E604-0B56-A0D3-B2AF-5D9DC2D6158D}"/>
              </a:ext>
            </a:extLst>
          </p:cNvPr>
          <p:cNvCxnSpPr/>
          <p:nvPr/>
        </p:nvCxnSpPr>
        <p:spPr>
          <a:xfrm>
            <a:off x="838200" y="29694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CB07129-E5EA-C325-818E-E32D3437086C}"/>
              </a:ext>
            </a:extLst>
          </p:cNvPr>
          <p:cNvSpPr txBox="1"/>
          <p:nvPr/>
        </p:nvSpPr>
        <p:spPr>
          <a:xfrm>
            <a:off x="7187044" y="1107595"/>
            <a:ext cx="44092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Основные инструменты </a:t>
            </a:r>
            <a:r>
              <a:rPr lang="es-MX" b="1" dirty="0"/>
              <a:t>Security </a:t>
            </a:r>
            <a:r>
              <a:rPr lang="es-MX" b="1" dirty="0" err="1"/>
              <a:t>Onion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CapME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Snort</a:t>
            </a:r>
            <a:r>
              <a:rPr lang="es-MX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Wireshark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Suricata </a:t>
            </a:r>
          </a:p>
          <a:p>
            <a:endParaRPr lang="ru-RU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57591B-9206-B7EA-E6A4-DF5224F550B1}"/>
              </a:ext>
            </a:extLst>
          </p:cNvPr>
          <p:cNvSpPr txBox="1"/>
          <p:nvPr/>
        </p:nvSpPr>
        <p:spPr>
          <a:xfrm>
            <a:off x="7187044" y="3223634"/>
            <a:ext cx="44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Основы работы с цифровыми доказательствами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Правильная обработка доказательств в ходе расследования.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29DE613-7307-4FD4-8AA8-7A40AFEA380C}"/>
              </a:ext>
            </a:extLst>
          </p:cNvPr>
          <p:cNvSpPr txBox="1"/>
          <p:nvPr/>
        </p:nvSpPr>
        <p:spPr>
          <a:xfrm>
            <a:off x="838200" y="3223634"/>
            <a:ext cx="52577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 и задачи анализа данных о вторжении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Обнаружение угроз и реагирование на инциденты.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Анализ сетевого трафика и атак.</a:t>
            </a:r>
          </a:p>
          <a:p>
            <a:endParaRPr lang="ru-RU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D58D72B-1B2B-F552-3D7F-6FC491294913}"/>
              </a:ext>
            </a:extLst>
          </p:cNvPr>
          <p:cNvSpPr txBox="1"/>
          <p:nvPr/>
        </p:nvSpPr>
        <p:spPr>
          <a:xfrm>
            <a:off x="2400307" y="5178356"/>
            <a:ext cx="858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Применение инструментов в реальной практике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Применение в профессиональной деятельности аналитиков безопасности.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Дополнительные инструменты, используемые с Security </a:t>
            </a:r>
            <a:r>
              <a:rPr lang="ru-RU" dirty="0" err="1"/>
              <a:t>Onion</a:t>
            </a:r>
            <a:r>
              <a:rPr lang="ru-RU" dirty="0"/>
              <a:t>.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F99CBC9-DA6D-D992-339F-9866642A8202}"/>
              </a:ext>
            </a:extLst>
          </p:cNvPr>
          <p:cNvCxnSpPr>
            <a:cxnSpLocks/>
          </p:cNvCxnSpPr>
          <p:nvPr/>
        </p:nvCxnSpPr>
        <p:spPr>
          <a:xfrm flipV="1">
            <a:off x="2992584" y="4707082"/>
            <a:ext cx="6078681" cy="4549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B619E7B-06F9-666C-8680-2F5E6734282A}"/>
              </a:ext>
            </a:extLst>
          </p:cNvPr>
          <p:cNvSpPr txBox="1"/>
          <p:nvPr/>
        </p:nvSpPr>
        <p:spPr>
          <a:xfrm>
            <a:off x="9360473" y="1431722"/>
            <a:ext cx="1472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Zeek</a:t>
            </a:r>
            <a:r>
              <a:rPr lang="es-MX" dirty="0"/>
              <a:t> (Bro)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OSSEC 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Sguil</a:t>
            </a:r>
            <a:endParaRPr lang="es-MX" dirty="0"/>
          </a:p>
        </p:txBody>
      </p:sp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F13ADA49-6B30-3E9D-F864-AFC7178B5E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225" y="1002702"/>
            <a:ext cx="5642191" cy="56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37142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FB8B-7B56-8BA9-CA57-DF88EEDA4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E3F1404-1C64-54F8-DE57-DDB3F5A08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1C777FB-ED72-3971-7163-5F09E2134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AEECFE1-DFC6-20F9-F769-53CD1DCCCF97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A0EC9CE-0444-DBFD-F35C-B3CA720CBB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24A0F8-EA99-4F11-E5BC-95FD975E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3215"/>
            <a:ext cx="8756073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Реагирование и обработка инцидентов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045CE7-0070-4FF4-8AE0-A6A8D73C213B}"/>
              </a:ext>
            </a:extLst>
          </p:cNvPr>
          <p:cNvSpPr txBox="1"/>
          <p:nvPr/>
        </p:nvSpPr>
        <p:spPr>
          <a:xfrm>
            <a:off x="653796" y="1107595"/>
            <a:ext cx="4915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Цепочка атак Cyber </a:t>
            </a:r>
            <a:r>
              <a:rPr lang="ru-RU" b="1" dirty="0" err="1"/>
              <a:t>Kill</a:t>
            </a:r>
            <a:r>
              <a:rPr lang="ru-RU" b="1" dirty="0"/>
              <a:t> </a:t>
            </a:r>
            <a:r>
              <a:rPr lang="ru-RU" b="1" dirty="0" err="1"/>
              <a:t>Chain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Шаги атаки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Прерывание атаки на любом шаге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8203021-6E02-4719-EC8D-70030A8E420B}"/>
              </a:ext>
            </a:extLst>
          </p:cNvPr>
          <p:cNvCxnSpPr>
            <a:cxnSpLocks/>
          </p:cNvCxnSpPr>
          <p:nvPr/>
        </p:nvCxnSpPr>
        <p:spPr>
          <a:xfrm>
            <a:off x="6096000" y="1196948"/>
            <a:ext cx="0" cy="384964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2A002AD-D40D-2F03-672C-CCD088E7D5B3}"/>
              </a:ext>
            </a:extLst>
          </p:cNvPr>
          <p:cNvCxnSpPr/>
          <p:nvPr/>
        </p:nvCxnSpPr>
        <p:spPr>
          <a:xfrm>
            <a:off x="838200" y="2969422"/>
            <a:ext cx="105156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4778EC8-E5E0-F492-AF74-A878F41DF013}"/>
              </a:ext>
            </a:extLst>
          </p:cNvPr>
          <p:cNvSpPr txBox="1"/>
          <p:nvPr/>
        </p:nvSpPr>
        <p:spPr>
          <a:xfrm>
            <a:off x="7187044" y="1107595"/>
            <a:ext cx="4409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Модель Diamond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Противник, способности, инфраструктура, жертва</a:t>
            </a:r>
          </a:p>
          <a:p>
            <a:endParaRPr lang="ru-RU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84CB5C-8D64-2D47-F40C-82D5B19AC6C7}"/>
              </a:ext>
            </a:extLst>
          </p:cNvPr>
          <p:cNvSpPr txBox="1"/>
          <p:nvPr/>
        </p:nvSpPr>
        <p:spPr>
          <a:xfrm>
            <a:off x="7187044" y="3223634"/>
            <a:ext cx="4409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Типы CSIRT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Внутренние, национальные и другие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318DA6-16F2-0D77-D8A8-667947292A24}"/>
              </a:ext>
            </a:extLst>
          </p:cNvPr>
          <p:cNvSpPr txBox="1"/>
          <p:nvPr/>
        </p:nvSpPr>
        <p:spPr>
          <a:xfrm>
            <a:off x="838200" y="3223634"/>
            <a:ext cx="5257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Схема VERIS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Угрозы, активы, воздействия, контроль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47CC23-D2C6-CFCD-0255-6743F941A756}"/>
              </a:ext>
            </a:extLst>
          </p:cNvPr>
          <p:cNvSpPr txBox="1"/>
          <p:nvPr/>
        </p:nvSpPr>
        <p:spPr>
          <a:xfrm>
            <a:off x="2400307" y="5178356"/>
            <a:ext cx="858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Процесс реагирования на инциденты по NIST 800-61r2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Подготовка, обнаружение, ограничение, ликвидация и восстановление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42B4A48-8435-C469-F7FF-BF5D320B0D78}"/>
              </a:ext>
            </a:extLst>
          </p:cNvPr>
          <p:cNvCxnSpPr>
            <a:cxnSpLocks/>
          </p:cNvCxnSpPr>
          <p:nvPr/>
        </p:nvCxnSpPr>
        <p:spPr>
          <a:xfrm flipV="1">
            <a:off x="3056655" y="4664611"/>
            <a:ext cx="6078681" cy="4549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3B84DA98-4EC9-0691-B593-518C91964EB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04" b="89936" l="6550" r="89936">
                        <a14:foregroundMark x1="30032" y1="21885" x2="32588" y2="24281"/>
                        <a14:foregroundMark x1="16933" y1="35463" x2="20288" y2="38498"/>
                        <a14:foregroundMark x1="13419" y1="34185" x2="22045" y2="39297"/>
                        <a14:foregroundMark x1="6550" y1="55112" x2="16294" y2="55272"/>
                        <a14:foregroundMark x1="28275" y1="19489" x2="28275" y2="19489"/>
                        <a14:foregroundMark x1="29393" y1="19329" x2="32109" y2="25879"/>
                        <a14:foregroundMark x1="31949" y1="24920" x2="32907" y2="24441"/>
                        <a14:foregroundMark x1="50000" y1="14217" x2="49521" y2="20447"/>
                        <a14:foregroundMark x1="69329" y1="19329" x2="67252" y2="23642"/>
                        <a14:foregroundMark x1="76518" y1="38498" x2="84505" y2="34505"/>
                        <a14:foregroundMark x1="77796" y1="52077" x2="84505" y2="56709"/>
                        <a14:foregroundMark x1="84505" y1="56709" x2="86901" y2="67891"/>
                        <a14:foregroundMark x1="86901" y1="67891" x2="86102" y2="72204"/>
                        <a14:foregroundMark x1="79233" y1="63259" x2="78914" y2="68051"/>
                        <a14:foregroundMark x1="67252" y1="82748" x2="48243" y2="82748"/>
                        <a14:foregroundMark x1="48083" y1="53355" x2="48243" y2="55911"/>
                        <a14:foregroundMark x1="40415" y1="54952" x2="41693" y2="54633"/>
                        <a14:foregroundMark x1="41214" y1="53674" x2="41534" y2="56070"/>
                        <a14:foregroundMark x1="10703" y1="55112" x2="16134" y2="551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60" y="216259"/>
            <a:ext cx="7024686" cy="702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82938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71FAFC9-214F-3FBD-7335-D2F8E756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963" y="2766218"/>
            <a:ext cx="8756073" cy="1325563"/>
          </a:xfrm>
        </p:spPr>
        <p:txBody>
          <a:bodyPr>
            <a:normAutofit fontScale="90000"/>
          </a:bodyPr>
          <a:lstStyle/>
          <a:p>
            <a:r>
              <a:rPr lang="ru-RU" sz="5400" b="1" dirty="0">
                <a:solidFill>
                  <a:srgbClr val="0073B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pic>
        <p:nvPicPr>
          <p:cNvPr id="6" name="Imagen 5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5F978E5A-E143-11BE-DD2E-1DC1D52D6AE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8" t="18638" r="8768" b="18638"/>
          <a:stretch/>
        </p:blipFill>
        <p:spPr>
          <a:xfrm>
            <a:off x="1717964" y="98923"/>
            <a:ext cx="8756072" cy="666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6107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916</Words>
  <Application>Microsoft Office PowerPoint</Application>
  <PresentationFormat>Panorámica</PresentationFormat>
  <Paragraphs>212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CorelDRAW</vt:lpstr>
      <vt:lpstr>Presentación de PowerPoint</vt:lpstr>
      <vt:lpstr>Задача</vt:lpstr>
      <vt:lpstr>Содержание Курса:</vt:lpstr>
      <vt:lpstr>Что такое Этичный хакинг?</vt:lpstr>
      <vt:lpstr>Кибербезопасность и Операционный Центр Безопасности (SOC)</vt:lpstr>
      <vt:lpstr>Операционная система Windows</vt:lpstr>
      <vt:lpstr>Операционная система Linux</vt:lpstr>
      <vt:lpstr>Сетевые протоколы и сервисы</vt:lpstr>
      <vt:lpstr>Infraestructura de red</vt:lpstr>
      <vt:lpstr>Принципы сетевой безопасности</vt:lpstr>
      <vt:lpstr>Атаки на сети: глубокий анализ</vt:lpstr>
      <vt:lpstr>Защита сети</vt:lpstr>
      <vt:lpstr>Криптография и инфраструктура открытых ключей (PKI)</vt:lpstr>
      <vt:lpstr>Защита концевых устройств</vt:lpstr>
      <vt:lpstr>Мониторинг безопасности</vt:lpstr>
      <vt:lpstr>Анализ данных о взломах</vt:lpstr>
      <vt:lpstr>Реагирование и обработка инцидентов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Серон Кабрера Алехандро Патрисио</dc:creator>
  <cp:lastModifiedBy>Серон Кабрера Алехандро Патрисио</cp:lastModifiedBy>
  <cp:revision>5</cp:revision>
  <dcterms:created xsi:type="dcterms:W3CDTF">2025-01-20T08:55:55Z</dcterms:created>
  <dcterms:modified xsi:type="dcterms:W3CDTF">2025-01-21T15:22:00Z</dcterms:modified>
</cp:coreProperties>
</file>